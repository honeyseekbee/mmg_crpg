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85" autoAdjust="0"/>
    <p:restoredTop sz="96242" autoAdjust="0"/>
  </p:normalViewPr>
  <p:slideViewPr>
    <p:cSldViewPr snapToGrid="0">
      <p:cViewPr>
        <p:scale>
          <a:sx n="100" d="100"/>
          <a:sy n="100" d="100"/>
        </p:scale>
        <p:origin x="115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7E097-33BD-4267-8768-8B06FF79DE3E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7902A5-AB27-4B30-8666-4D7E957B51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441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클라이언트는 전투 판정을 직접 계산하지 않는다.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서버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Tick마다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CombatTickResponsePb를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수신하고,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Snapshot으로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상태를 갱신하며,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Event로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연출을 처리한다.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stage_cleared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수신 시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틱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루프를 종료하고,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stage_result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수신 시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FinishCombatAsync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호출로 보상 흐름이 시작된다.</a:t>
            </a:r>
          </a:p>
          <a:p>
            <a:r>
              <a:rPr lang="en-US" altLang="ko-KR" dirty="0"/>
              <a:t>"</a:t>
            </a:r>
            <a:r>
              <a:rPr lang="ko-KR" altLang="en-US" dirty="0"/>
              <a:t>현재 구조에서 클라이언트 권위로 넘길 수 있는 건 스킬 </a:t>
            </a:r>
            <a:r>
              <a:rPr lang="ko-KR" altLang="en-US" dirty="0" err="1"/>
              <a:t>쿨타임</a:t>
            </a:r>
            <a:r>
              <a:rPr lang="ko-KR" altLang="en-US" dirty="0"/>
              <a:t> </a:t>
            </a:r>
            <a:r>
              <a:rPr lang="en-US" altLang="ko-KR" dirty="0"/>
              <a:t>UI </a:t>
            </a:r>
            <a:r>
              <a:rPr lang="ko-KR" altLang="en-US" dirty="0"/>
              <a:t>카운트다운 정도입니다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지금은 서버 이벤트가 올 때마다 </a:t>
            </a:r>
            <a:r>
              <a:rPr lang="en-US" altLang="ko-KR" dirty="0"/>
              <a:t>UI</a:t>
            </a:r>
            <a:r>
              <a:rPr lang="ko-KR" altLang="en-US" dirty="0"/>
              <a:t>를 갱신하는데</a:t>
            </a:r>
            <a:r>
              <a:rPr lang="en-US" altLang="ko-KR" dirty="0"/>
              <a:t>, </a:t>
            </a:r>
            <a:r>
              <a:rPr lang="ko-KR" altLang="en-US" dirty="0"/>
              <a:t>사실 </a:t>
            </a:r>
            <a:r>
              <a:rPr lang="ko-KR" altLang="en-US" dirty="0" err="1"/>
              <a:t>쿨타임</a:t>
            </a:r>
            <a:r>
              <a:rPr lang="ko-KR" altLang="en-US" dirty="0"/>
              <a:t> 표시는 서버가 확정한 값을 기준으로 </a:t>
            </a:r>
            <a:r>
              <a:rPr lang="ko-KR" altLang="en-US" dirty="0" err="1"/>
              <a:t>클라가</a:t>
            </a:r>
            <a:endParaRPr lang="ko-KR" altLang="en-US" dirty="0"/>
          </a:p>
          <a:p>
            <a:r>
              <a:rPr lang="ko-KR" altLang="en-US" dirty="0"/>
              <a:t>  독립적으로 타이머를 돌려도 됩니다</a:t>
            </a:r>
            <a:r>
              <a:rPr lang="en-US" altLang="ko-KR" dirty="0"/>
              <a:t>. </a:t>
            </a:r>
            <a:r>
              <a:rPr lang="ko-KR" altLang="en-US" dirty="0"/>
              <a:t>실제 </a:t>
            </a:r>
            <a:r>
              <a:rPr lang="ko-KR" altLang="en-US" dirty="0" err="1"/>
              <a:t>쿨타임</a:t>
            </a:r>
            <a:r>
              <a:rPr lang="ko-KR" altLang="en-US" dirty="0"/>
              <a:t> 판정은 서버가 하고</a:t>
            </a:r>
            <a:r>
              <a:rPr lang="en-US" altLang="ko-KR" dirty="0"/>
              <a:t>, </a:t>
            </a:r>
            <a:r>
              <a:rPr lang="ko-KR" altLang="en-US" dirty="0" err="1"/>
              <a:t>클라는</a:t>
            </a:r>
            <a:r>
              <a:rPr lang="ko-KR" altLang="en-US" dirty="0"/>
              <a:t> 보여주기만 하는 거니까 </a:t>
            </a:r>
            <a:r>
              <a:rPr lang="ko-KR" altLang="en-US" dirty="0" err="1"/>
              <a:t>치트</a:t>
            </a:r>
            <a:endParaRPr lang="ko-KR" altLang="en-US" dirty="0"/>
          </a:p>
          <a:p>
            <a:r>
              <a:rPr lang="ko-KR" altLang="en-US" dirty="0"/>
              <a:t>  위협도 없어요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그리고 더 큰 관점에서는</a:t>
            </a:r>
            <a:r>
              <a:rPr lang="en-US" altLang="ko-KR" dirty="0"/>
              <a:t>, </a:t>
            </a:r>
            <a:r>
              <a:rPr lang="ko-KR" altLang="en-US" dirty="0"/>
              <a:t>이 게임은 자동 전투에 실시간 </a:t>
            </a:r>
            <a:r>
              <a:rPr lang="en-US" altLang="ko-KR" dirty="0"/>
              <a:t>PvP</a:t>
            </a:r>
            <a:r>
              <a:rPr lang="ko-KR" altLang="en-US" dirty="0"/>
              <a:t>도 없어서 사실 클라이언트 권위를 늘리는 것보다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Tick </a:t>
            </a:r>
            <a:r>
              <a:rPr lang="ko-KR" altLang="en-US" dirty="0"/>
              <a:t>주기를 늘리거나 변경된 </a:t>
            </a:r>
            <a:r>
              <a:rPr lang="ko-KR" altLang="en-US" dirty="0" err="1"/>
              <a:t>액터만</a:t>
            </a:r>
            <a:r>
              <a:rPr lang="ko-KR" altLang="en-US" dirty="0"/>
              <a:t> 델타 전송하는 게 통신 비용 절감에 더 효과적이라고 생각합니다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클라이언트 권위 확장이 진짜 </a:t>
            </a:r>
            <a:r>
              <a:rPr lang="ko-KR" altLang="en-US" dirty="0" err="1"/>
              <a:t>의미있는</a:t>
            </a:r>
            <a:r>
              <a:rPr lang="ko-KR" altLang="en-US" dirty="0"/>
              <a:t> 장르는 플레이어 입력이 실시간으로 반영되어야 하는 </a:t>
            </a:r>
            <a:r>
              <a:rPr lang="en-US" altLang="ko-KR" dirty="0"/>
              <a:t>FPS</a:t>
            </a:r>
            <a:r>
              <a:rPr lang="ko-KR" altLang="en-US" dirty="0"/>
              <a:t>나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격투게임이고</a:t>
            </a:r>
            <a:r>
              <a:rPr lang="en-US" altLang="ko-KR" dirty="0"/>
              <a:t>, </a:t>
            </a:r>
            <a:r>
              <a:rPr lang="ko-KR" altLang="en-US" dirty="0"/>
              <a:t>이 프로젝트 장르에서는 그 이득보다 구조 복잡성 증가 비용이 더 크다고 판단했습니다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  <a:p>
            <a:r>
              <a:rPr lang="en-US" altLang="ko-KR" dirty="0"/>
              <a:t>  ---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핵심은 </a:t>
            </a:r>
            <a:r>
              <a:rPr lang="en-US" altLang="ko-KR" dirty="0"/>
              <a:t>"</a:t>
            </a:r>
            <a:r>
              <a:rPr lang="ko-KR" altLang="en-US" dirty="0"/>
              <a:t>없다</a:t>
            </a:r>
            <a:r>
              <a:rPr lang="en-US" altLang="ko-KR" dirty="0"/>
              <a:t>"</a:t>
            </a:r>
            <a:r>
              <a:rPr lang="ko-KR" altLang="en-US" dirty="0"/>
              <a:t>가 아니라 </a:t>
            </a:r>
            <a:r>
              <a:rPr lang="en-US" altLang="ko-KR" dirty="0"/>
              <a:t>"</a:t>
            </a:r>
            <a:r>
              <a:rPr lang="ko-KR" altLang="en-US" dirty="0"/>
              <a:t>장르 특성상 다른 방법이 더 효율적이라 그걸 선택했다</a:t>
            </a:r>
            <a:r>
              <a:rPr lang="en-US" altLang="ko-KR" dirty="0"/>
              <a:t>" </a:t>
            </a:r>
            <a:r>
              <a:rPr lang="ko-KR" altLang="en-US" dirty="0"/>
              <a:t>는 논리야</a:t>
            </a:r>
            <a:r>
              <a:rPr lang="en-US" altLang="ko-KR" dirty="0"/>
              <a:t>. </a:t>
            </a:r>
            <a:r>
              <a:rPr lang="ko-KR" altLang="en-US" dirty="0"/>
              <a:t>본인이</a:t>
            </a:r>
          </a:p>
          <a:p>
            <a:r>
              <a:rPr lang="ko-KR" altLang="en-US" dirty="0"/>
              <a:t>  트레이드오프를 인지하고 의도적으로 선택했다는 걸 보여주는 게 </a:t>
            </a:r>
            <a:r>
              <a:rPr lang="ko-KR" altLang="en-US" dirty="0" err="1"/>
              <a:t>포인트거든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02A5-AB27-4B30-8666-4D7E957B51C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141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52951-47CB-D317-666A-9B9CE8FE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CC212B-F0AB-4351-9D08-4EC260D12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F5E5D5-F787-21D4-40DA-689B8CA23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0EAA25-1A89-9253-0295-4116DB2BF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02A5-AB27-4B30-8666-4D7E957B51C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833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C4201-F792-503C-18D5-FD85C52D6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001599-09B5-7D9F-1ABB-044CB5A01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DDECE8-D07C-DCDD-781C-9557BA356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55F075-8E7F-3588-9874-E8C72C455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02A5-AB27-4B30-8666-4D7E957B51C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099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A8B3E-5BF4-C11A-D806-D09A11B5C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521207-22D3-6D74-78B9-65217ADBD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962EDB-A08B-54C7-19FE-812023666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6C48E5-B417-4CEA-9158-0B90FC925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02A5-AB27-4B30-8666-4D7E957B51C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445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822C1-0143-DBB5-0645-0FC71E1AB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65BB60-F3FC-AA4B-3925-CEC217FA6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8042B3-93FC-5599-9F9D-0B5D1D823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7679F7-F43B-7A57-E4CD-48D3DF13A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02A5-AB27-4B30-8666-4D7E957B51C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995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00429-FA13-BA3B-1913-F2746FD1E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B7B88D-0A46-3EB7-76A1-A654600C9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1C1DFE-6F88-CD9D-7AD3-A88FAD8AF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CB225D-628B-690F-D684-68BE3D5DB0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02A5-AB27-4B30-8666-4D7E957B51C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117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4FD66-2898-9BFE-F333-46D1EA551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A16DBF-6D11-14F0-F67D-A3DFAF089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E13BB-D9D4-09B5-5059-CA8EF290D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4ED8C8-33F6-94E1-61E2-F40C4FE88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02A5-AB27-4B30-8666-4D7E957B51C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058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FB418-5A1E-39DB-FB3C-FF48477D4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5A3092-90DD-139F-2CC2-9EEBEF64B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89AF64-A1A2-60E3-8244-8E4A25960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B0AD95-E989-7839-8DBF-68F98CF35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02A5-AB27-4B30-8666-4D7E957B51C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77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06ACE8-1EAC-3573-3339-0B33DC1AA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6AD8A1-A4DA-0FEC-5F5B-7E3FA6425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029072-A078-4C28-156A-4E1A8D275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803E1-233E-452D-806E-42A9C63516CB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7972DB-EE20-E32D-657B-D12640883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170118-0DE9-CBDF-D236-0407ECF50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09-F3F3-4DC3-92D0-AE2FB3A9D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53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4F72A-A641-F3C2-C3A9-E38A7222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E61B55-74F1-9796-E645-B2DA78FD5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2945EB-8DA4-2CBA-AE64-6103E07DF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803E1-233E-452D-806E-42A9C63516CB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B291E6-F9F9-5364-0628-113E8245A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B3CEF1-5CC8-62D2-703E-3EC50981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09-F3F3-4DC3-92D0-AE2FB3A9D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060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EF375-116A-32B9-47F9-B159F3325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83A288-480B-4D23-6902-0AD6516D1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2CF413-5BCB-3B33-3C35-E54FA63F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803E1-233E-452D-806E-42A9C63516CB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E3FC2B-870A-7D51-AD6F-F70C1E764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DD41DA-80C6-B7F5-D06C-011F6EAE3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09-F3F3-4DC3-92D0-AE2FB3A9D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011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BD236-0081-4EB9-8C41-5B486CCBD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C40B38-B6D7-2F67-1864-37F16D933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ABFE46-2100-E1EC-DDFA-5EA9E3B5C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635C00-F797-DFB9-7D77-A59883DC6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803E1-233E-452D-806E-42A9C63516CB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532AF6-83F1-E528-97EE-F2B0D41D9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8464E7-7592-A9FA-9CE6-42B6DC94F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09-F3F3-4DC3-92D0-AE2FB3A9D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900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AA643-2CC8-9998-E830-1A4C9D5AA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DEE48E-E9AD-6021-EC3F-7A7716E28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71D8F6-F6B4-94F6-6740-97A8A2584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CA9FF4-3862-89A5-C312-DF9FBBEBD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B81D57D-C68E-8A4F-B5F9-778D79E95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D7AF49-906E-4A62-0716-6AC392164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803E1-233E-452D-806E-42A9C63516CB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56F67D-3BBA-009D-C421-4471A1833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A67DCF-886D-824F-79B1-0F94A8C8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09-F3F3-4DC3-92D0-AE2FB3A9D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499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C1930-8F21-B57B-AE11-313190A0B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C266CD-F182-45F3-89B8-32FD6B423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803E1-233E-452D-806E-42A9C63516CB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8ABC33-AB98-AEE1-46C0-91724F6C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4C7FBD-D3DD-97B0-4CE4-4D368879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09-F3F3-4DC3-92D0-AE2FB3A9D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750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2C4F94-13C0-133A-75FE-DE2F268DA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803E1-233E-452D-806E-42A9C63516CB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F6CDC9-9E9C-2755-77F1-1561BFE0A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2F391F-1CA4-A770-20EB-C036C5CE1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09-F3F3-4DC3-92D0-AE2FB3A9D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336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834A4A-E883-F40E-3743-EAF40ECFD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F306C5-E228-2470-8158-90054A1AC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9E57B8-ED8F-5637-2EED-8F989ECD5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8EA88E-CBB9-54FB-AF66-81595BE73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803E1-233E-452D-806E-42A9C63516CB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3F53EC-2E0C-0A10-333A-4D1E51A37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BCA2FE-EFEC-76A4-0ACE-2D38F66F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09-F3F3-4DC3-92D0-AE2FB3A9D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836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5DEA88-DC24-6761-6F63-E4A47B0AF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C61CCF-B1AE-1C48-D450-D572F7812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0123DB-6E96-4A49-0274-6121E7AD0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D58808-47C5-9250-1E42-C2B13D7CC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803E1-233E-452D-806E-42A9C63516CB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49E75D-ACEE-C760-B00B-2780872D6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6C0AE8-D5C2-1B55-F4C2-1A0680C2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09-F3F3-4DC3-92D0-AE2FB3A9D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95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B5168-0B8B-CAA2-0FA2-E7918FFE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D11504-3513-5463-0D98-DE943868C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525E5D-7934-91B9-96D0-D3FFFE52D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803E1-233E-452D-806E-42A9C63516CB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3A15E6-9EAD-0CA9-FE03-0935F486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4DE0F8-94E4-95F2-4338-459092E3E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09-F3F3-4DC3-92D0-AE2FB3A9D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53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CD16632-264A-6695-62CD-3B74C50C3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54CCB7-86CF-1867-E8CD-20EA99C8D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11A1A8-8FA4-DDD1-526C-68041FA1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803E1-233E-452D-806E-42A9C63516CB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5AB2D9-12C3-4F91-C298-E69A23DB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8E19AF-2A3C-220A-FBAC-B82A514A6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09-F3F3-4DC3-92D0-AE2FB3A9D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46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B83A0DA-A426-8F6C-11A5-C5445FF9D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82B525-E9D1-2EB7-D4AB-D7D24AE84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A30D92-4B2E-1717-75BB-B1D7A038A5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2803E1-233E-452D-806E-42A9C63516CB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EC115A-AF78-CB95-28B8-C38D8752C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68328B-1497-CEBC-0BC8-98602609E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6D2209-F3F3-4DC3-92D0-AE2FB3A9D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22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12dlfdl12/223977163312" TargetMode="External"/><Relationship Id="rId2" Type="http://schemas.openxmlformats.org/officeDocument/2006/relationships/hyperlink" Target="https://www.notion.so/2cedd6b204da80a0bdf6d6ba88c88108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oneySeekBee/MMG_CRPG.git" TargetMode="External"/><Relationship Id="rId2" Type="http://schemas.openxmlformats.org/officeDocument/2006/relationships/hyperlink" Target="https://youtu.be/e2f5qjR5SHQ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41999C-AD5B-63E5-7F36-9A58A7768E55}"/>
              </a:ext>
            </a:extLst>
          </p:cNvPr>
          <p:cNvSpPr txBox="1"/>
          <p:nvPr/>
        </p:nvSpPr>
        <p:spPr>
          <a:xfrm>
            <a:off x="836734" y="2644170"/>
            <a:ext cx="632075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Lumen Academy</a:t>
            </a:r>
            <a:endParaRPr lang="ko-KR" altLang="en-US" sz="4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78ACB0-5C86-B7F8-3432-6CA9111CDB84}"/>
              </a:ext>
            </a:extLst>
          </p:cNvPr>
          <p:cNvSpPr txBox="1"/>
          <p:nvPr/>
        </p:nvSpPr>
        <p:spPr>
          <a:xfrm>
            <a:off x="836734" y="3387062"/>
            <a:ext cx="41733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수집형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RPG· Mobile (Unity) · 1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· 2025.08 ~ 2025.12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1AAEAD-37D2-FAE3-D4FE-CED8EB97297D}"/>
              </a:ext>
            </a:extLst>
          </p:cNvPr>
          <p:cNvSpPr txBox="1"/>
          <p:nvPr/>
        </p:nvSpPr>
        <p:spPr>
          <a:xfrm>
            <a:off x="1725734" y="6280092"/>
            <a:ext cx="559474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Notion : </a:t>
            </a:r>
            <a:r>
              <a:rPr lang="en-US" altLang="ko-KR" sz="7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hlinkClick r:id="rId2"/>
              </a:rPr>
              <a:t>https://www.notion.so/2cedd6b204da80a0bdf6d6ba88c88108</a:t>
            </a:r>
            <a:endParaRPr lang="ko-KR" altLang="en-US" sz="7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22D519-2F8F-9162-DE17-0780648B70DA}"/>
              </a:ext>
            </a:extLst>
          </p:cNvPr>
          <p:cNvSpPr txBox="1"/>
          <p:nvPr/>
        </p:nvSpPr>
        <p:spPr>
          <a:xfrm>
            <a:off x="1725734" y="6480147"/>
            <a:ext cx="559474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Blog : </a:t>
            </a:r>
            <a:r>
              <a:rPr lang="en-US" altLang="ko-KR" sz="7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hlinkClick r:id="rId3"/>
              </a:rPr>
              <a:t>https://blog.naver.com/12dlfdl12/223977163312</a:t>
            </a:r>
            <a:endParaRPr lang="ko-KR" altLang="en-US" sz="7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0" name="그림 9" descr="만화 영화, 애니메이션, 가상의 캐릭터, 소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503CCD-808A-DE15-3FC3-6193F3680E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708" y="2231000"/>
            <a:ext cx="4441558" cy="29610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29196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9D107-4ABA-DE16-EC49-48168B3E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411224" cy="1325563"/>
          </a:xfrm>
        </p:spPr>
        <p:txBody>
          <a:bodyPr/>
          <a:lstStyle/>
          <a:p>
            <a:r>
              <a:rPr lang="ko-KR" altLang="en-US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B30C9-EE0C-6093-8C1A-40219ECA5235}"/>
              </a:ext>
            </a:extLst>
          </p:cNvPr>
          <p:cNvSpPr txBox="1"/>
          <p:nvPr/>
        </p:nvSpPr>
        <p:spPr>
          <a:xfrm>
            <a:off x="2249424" y="1885372"/>
            <a:ext cx="4173393" cy="3087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AutoNum type="arabicPeriod"/>
            </a:pP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프로젝트 소개</a:t>
            </a:r>
            <a:endParaRPr lang="en-US" altLang="ko-KR" sz="2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구현 내용</a:t>
            </a:r>
            <a:endParaRPr lang="en-US" altLang="ko-KR" sz="2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기술적 도전 </a:t>
            </a:r>
            <a:r>
              <a:rPr lang="en-US" altLang="ko-KR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&amp; </a:t>
            </a: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해결</a:t>
            </a:r>
            <a:endParaRPr lang="en-US" altLang="ko-KR" sz="2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코드 구조 설계</a:t>
            </a:r>
            <a:endParaRPr lang="en-US" altLang="ko-KR" sz="2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결과 </a:t>
            </a:r>
            <a:r>
              <a:rPr lang="en-US" altLang="ko-KR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&amp; </a:t>
            </a: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배운 점</a:t>
            </a:r>
            <a:endParaRPr lang="en-US" altLang="ko-KR" sz="2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4067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81CD795-5A1E-1B97-632A-6D8087AF6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382" y="38431"/>
            <a:ext cx="7921752" cy="1325563"/>
          </a:xfrm>
        </p:spPr>
        <p:txBody>
          <a:bodyPr/>
          <a:lstStyle/>
          <a:p>
            <a:r>
              <a:rPr lang="en-US" altLang="ko-KR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1. </a:t>
            </a:r>
            <a:r>
              <a:rPr lang="ko-KR" altLang="en-US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프로젝트 소개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78818-BC2F-9D7F-9155-98839A8192B7}"/>
              </a:ext>
            </a:extLst>
          </p:cNvPr>
          <p:cNvSpPr txBox="1"/>
          <p:nvPr/>
        </p:nvSpPr>
        <p:spPr>
          <a:xfrm>
            <a:off x="601382" y="2175770"/>
            <a:ext cx="512631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프로젝트 배경 </a:t>
            </a:r>
            <a:endParaRPr lang="en-US" altLang="ko-KR" sz="14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4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대중교통에서 부담 없이 즐길 수 있는 수집형 자동전투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RPG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목표로 기획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향후 협동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경쟁 멀티 요소 확장을 전제로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치트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방지와 동기화 일관성을 위해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서버 권한 구조로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설계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F5C8044-1425-ABA9-83BB-10B01B711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999366"/>
              </p:ext>
            </p:extLst>
          </p:nvPr>
        </p:nvGraphicFramePr>
        <p:xfrm>
          <a:off x="6946681" y="2638768"/>
          <a:ext cx="4191219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36723">
                  <a:extLst>
                    <a:ext uri="{9D8B030D-6E8A-4147-A177-3AD203B41FA5}">
                      <a16:colId xmlns:a16="http://schemas.microsoft.com/office/drawing/2014/main" val="3315658982"/>
                    </a:ext>
                  </a:extLst>
                </a:gridCol>
                <a:gridCol w="2954496">
                  <a:extLst>
                    <a:ext uri="{9D8B030D-6E8A-4147-A177-3AD203B41FA5}">
                      <a16:colId xmlns:a16="http://schemas.microsoft.com/office/drawing/2014/main" val="2665532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항목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내용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326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장르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수집형 자동전투 </a:t>
                      </a:r>
                      <a:r>
                        <a:rPr lang="en-US" altLang="ko-KR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RPG</a:t>
                      </a:r>
                      <a:endParaRPr lang="ko-KR" altLang="en-US" sz="12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901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플랫폼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Moblie</a:t>
                      </a:r>
                      <a:r>
                        <a:rPr lang="en-US" altLang="ko-KR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(Unity)</a:t>
                      </a:r>
                      <a:endParaRPr lang="ko-KR" altLang="en-US" sz="12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103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개발</a:t>
                      </a:r>
                      <a:r>
                        <a:rPr lang="en-US" altLang="ko-KR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</a:t>
                      </a:r>
                      <a:r>
                        <a:rPr lang="ko-KR" altLang="en-US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기간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2025.08 ~ 2025.12</a:t>
                      </a:r>
                      <a:endParaRPr lang="ko-KR" altLang="en-US" sz="12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422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개발 형태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1</a:t>
                      </a:r>
                      <a:r>
                        <a:rPr lang="ko-KR" altLang="en-US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인 개발 </a:t>
                      </a:r>
                      <a:r>
                        <a:rPr lang="en-US" altLang="ko-KR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</a:t>
                      </a:r>
                      <a:r>
                        <a:rPr lang="ko-KR" altLang="en-US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클라이언트 </a:t>
                      </a:r>
                      <a:r>
                        <a:rPr lang="en-US" altLang="ko-KR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+ </a:t>
                      </a:r>
                      <a:r>
                        <a:rPr lang="ko-KR" altLang="en-US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서버 </a:t>
                      </a:r>
                      <a:r>
                        <a:rPr lang="en-US" altLang="ko-KR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+ </a:t>
                      </a:r>
                      <a:r>
                        <a:rPr lang="ko-KR" altLang="en-US" sz="1200" dirty="0" err="1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운영툴</a:t>
                      </a:r>
                      <a:r>
                        <a:rPr lang="en-US" altLang="ko-KR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)</a:t>
                      </a:r>
                      <a:endParaRPr lang="ko-KR" altLang="en-US" sz="12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54909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7317206-F709-70B4-37D6-C2793C39CAEA}"/>
              </a:ext>
            </a:extLst>
          </p:cNvPr>
          <p:cNvSpPr txBox="1"/>
          <p:nvPr/>
        </p:nvSpPr>
        <p:spPr>
          <a:xfrm>
            <a:off x="601382" y="3388352"/>
            <a:ext cx="620581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주요 구현</a:t>
            </a:r>
            <a:endParaRPr lang="en-US" altLang="ko-KR" sz="14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클라이언트 최적화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—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Addressables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+ Additive Scene +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ObjectPool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병렬 캐시 로딩</a:t>
            </a:r>
            <a:endParaRPr lang="ko-KR" alt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서버 권한 전투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— </a:t>
            </a:r>
            <a:r>
              <a:rPr lang="en-US" altLang="ko-KR" sz="1200" dirty="0"/>
              <a:t>Snapshot/Event </a:t>
            </a:r>
            <a:r>
              <a:rPr lang="ko-KR" altLang="en-US" sz="1200" dirty="0"/>
              <a:t>수신</a:t>
            </a:r>
            <a:r>
              <a:rPr lang="en-US" altLang="ko-KR" sz="1200" dirty="0"/>
              <a:t>·</a:t>
            </a:r>
            <a:r>
              <a:rPr lang="ko-KR" altLang="en-US" sz="1200" dirty="0"/>
              <a:t>렌더링 분리</a:t>
            </a:r>
            <a:r>
              <a:rPr lang="en-US" altLang="ko-KR" sz="1200" dirty="0"/>
              <a:t>, </a:t>
            </a:r>
            <a:r>
              <a:rPr lang="ko-KR" altLang="en-US" sz="1200" dirty="0"/>
              <a:t>클라 </a:t>
            </a:r>
            <a:r>
              <a:rPr lang="ko-KR" altLang="en-US" sz="1200" dirty="0" err="1"/>
              <a:t>재빌드</a:t>
            </a:r>
            <a:r>
              <a:rPr lang="ko-KR" altLang="en-US" sz="1200" dirty="0"/>
              <a:t> 없이 로직 수정 가능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Protobuf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통신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— .proto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스키마 단일 관리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재시도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·JWT 401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전역 처리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기술 스택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— Unity, ASP.NET Core · PostgreSQL · Redis · AWS EC2/S3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8FCABA-241C-F3CC-A6B6-6099B4CED371}"/>
              </a:ext>
            </a:extLst>
          </p:cNvPr>
          <p:cNvSpPr txBox="1"/>
          <p:nvPr/>
        </p:nvSpPr>
        <p:spPr>
          <a:xfrm>
            <a:off x="601382" y="5664345"/>
            <a:ext cx="36288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플레이 영상 </a:t>
            </a:r>
            <a:r>
              <a:rPr lang="en-US" altLang="ko-KR" sz="10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Youtube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en-US" altLang="ko-KR" sz="10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: </a:t>
            </a:r>
            <a:r>
              <a:rPr lang="en-US" altLang="ko-KR" sz="10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hlinkClick r:id="rId2"/>
              </a:rPr>
              <a:t>https://youtu.be/e2f5qjR5SHQ</a:t>
            </a:r>
            <a:endParaRPr lang="ko-KR" altLang="en-US" sz="1000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8EF6A9-5CAA-CAD0-08FF-F8AEE5C1DD9B}"/>
              </a:ext>
            </a:extLst>
          </p:cNvPr>
          <p:cNvSpPr txBox="1"/>
          <p:nvPr/>
        </p:nvSpPr>
        <p:spPr>
          <a:xfrm>
            <a:off x="601382" y="5910566"/>
            <a:ext cx="55947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Source Code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Github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) :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https://github.com/HoneySeekBee/MMG_CRPG.git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7287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086C4-7897-9F09-EABA-49A05129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266354-6DC7-151A-28A8-991DB1DA67AB}"/>
              </a:ext>
            </a:extLst>
          </p:cNvPr>
          <p:cNvSpPr txBox="1"/>
          <p:nvPr/>
        </p:nvSpPr>
        <p:spPr>
          <a:xfrm>
            <a:off x="628414" y="1363994"/>
            <a:ext cx="516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A. 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서버 권한 기반 전투 동기화</a:t>
            </a:r>
            <a:endParaRPr lang="ko-KR" altLang="en-US" sz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EB804C-A03F-9E0E-F644-5F8E5E3DFA12}"/>
              </a:ext>
            </a:extLst>
          </p:cNvPr>
          <p:cNvSpPr txBox="1"/>
          <p:nvPr/>
        </p:nvSpPr>
        <p:spPr>
          <a:xfrm>
            <a:off x="5733142" y="1551251"/>
            <a:ext cx="5126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구조</a:t>
            </a:r>
            <a:endParaRPr lang="ko-KR" alt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2ACFA1-9D8F-2B88-ED2B-9729A573C540}"/>
              </a:ext>
            </a:extLst>
          </p:cNvPr>
          <p:cNvSpPr txBox="1"/>
          <p:nvPr/>
        </p:nvSpPr>
        <p:spPr>
          <a:xfrm>
            <a:off x="5733142" y="3700456"/>
            <a:ext cx="5126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코드</a:t>
            </a:r>
            <a:endParaRPr lang="ko-KR" alt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905D5799-2864-EEA9-6720-1455572CE405}"/>
              </a:ext>
            </a:extLst>
          </p:cNvPr>
          <p:cNvSpPr txBox="1">
            <a:spLocks/>
          </p:cNvSpPr>
          <p:nvPr/>
        </p:nvSpPr>
        <p:spPr>
          <a:xfrm>
            <a:off x="601382" y="38431"/>
            <a:ext cx="79217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2. </a:t>
            </a:r>
            <a:r>
              <a:rPr lang="ko-KR" altLang="en-US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구현 내용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4BF0A4-CA58-341C-6885-A07A598BB74F}"/>
              </a:ext>
            </a:extLst>
          </p:cNvPr>
          <p:cNvSpPr txBox="1"/>
          <p:nvPr/>
        </p:nvSpPr>
        <p:spPr>
          <a:xfrm>
            <a:off x="945676" y="2145358"/>
            <a:ext cx="3354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1) 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목표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47623B-B11B-3655-E042-9888A0287D98}"/>
              </a:ext>
            </a:extLst>
          </p:cNvPr>
          <p:cNvSpPr txBox="1"/>
          <p:nvPr/>
        </p:nvSpPr>
        <p:spPr>
          <a:xfrm>
            <a:off x="998710" y="2514551"/>
            <a:ext cx="3354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높은 몰입도 있는 게임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(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협동 및 경쟁 요소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추후 멀티 추가 시 전투 동기화가 가장 중요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7003F-C416-D1ED-90A8-3B7E677F0149}"/>
              </a:ext>
            </a:extLst>
          </p:cNvPr>
          <p:cNvSpPr txBox="1"/>
          <p:nvPr/>
        </p:nvSpPr>
        <p:spPr>
          <a:xfrm>
            <a:off x="945676" y="3020413"/>
            <a:ext cx="3354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2) 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설계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6D301-1C3B-DD82-106B-8859BBCC39CA}"/>
              </a:ext>
            </a:extLst>
          </p:cNvPr>
          <p:cNvSpPr txBox="1"/>
          <p:nvPr/>
        </p:nvSpPr>
        <p:spPr>
          <a:xfrm>
            <a:off x="998710" y="3389606"/>
            <a:ext cx="3354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전투 판정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상태를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 Authoritative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클라이언트는 입력 전달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결과 적용 중심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5159B-B1CA-57E9-77B4-4A84D9446FE8}"/>
              </a:ext>
            </a:extLst>
          </p:cNvPr>
          <p:cNvSpPr txBox="1"/>
          <p:nvPr/>
        </p:nvSpPr>
        <p:spPr>
          <a:xfrm>
            <a:off x="945676" y="3895468"/>
            <a:ext cx="3354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3) 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구현 구조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89C823-5C20-F4EC-D735-CC871D0A92A3}"/>
              </a:ext>
            </a:extLst>
          </p:cNvPr>
          <p:cNvSpPr txBox="1"/>
          <p:nvPr/>
        </p:nvSpPr>
        <p:spPr>
          <a:xfrm>
            <a:off x="998710" y="4322299"/>
            <a:ext cx="4734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start →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combatId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전투 세션 생성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Tick(100ms)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요청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응답으로 전투 상태 동기화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Tick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응답을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Snapshot(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상태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/ Events(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사건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분리</a:t>
            </a:r>
          </a:p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→ 상태 동기화와 연출 트리거를 독립 처리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CombatDirector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응답을 받아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C#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이벤트로 분배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렌더링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/VFX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는 구독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직렬화는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Protobuf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서버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(.NET)–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클라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(Unity) .proto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941D83-FA0C-9C0E-2824-D229BBE76D88}"/>
              </a:ext>
            </a:extLst>
          </p:cNvPr>
          <p:cNvSpPr txBox="1"/>
          <p:nvPr/>
        </p:nvSpPr>
        <p:spPr>
          <a:xfrm>
            <a:off x="945676" y="5610883"/>
            <a:ext cx="3354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4) 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트레이드오프</a:t>
            </a:r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(Trade-off)</a:t>
            </a:r>
            <a:endParaRPr lang="ko-KR" altLang="en-US" sz="14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B53A0-6506-7344-63DC-00C4C13FF964}"/>
              </a:ext>
            </a:extLst>
          </p:cNvPr>
          <p:cNvSpPr txBox="1"/>
          <p:nvPr/>
        </p:nvSpPr>
        <p:spPr>
          <a:xfrm>
            <a:off x="998710" y="5980076"/>
            <a:ext cx="3354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장점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치트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대응에 유리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상태 일관성 유지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단점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네트워크 지연 시 체감 지연 발생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통신 비용 증가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92A8F2B5-B688-32E4-47C8-8A2B66DE4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42" y="4071920"/>
            <a:ext cx="5602514" cy="1990251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E1C1B9D2-5AA6-8DA4-F303-4D8436932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325" y="2101632"/>
            <a:ext cx="5545965" cy="143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12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4EC34-8739-8C08-9A7F-4E972DE50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41BFAA2-2D6E-3A6F-1938-CEAB347F3D70}"/>
              </a:ext>
            </a:extLst>
          </p:cNvPr>
          <p:cNvSpPr txBox="1"/>
          <p:nvPr/>
        </p:nvSpPr>
        <p:spPr>
          <a:xfrm>
            <a:off x="628414" y="1363994"/>
            <a:ext cx="516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B. 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가챠 연출 시스템</a:t>
            </a:r>
            <a:endParaRPr lang="ko-KR" altLang="en-US" sz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A1A30396-4620-AE39-AF55-FF05B66B37DB}"/>
              </a:ext>
            </a:extLst>
          </p:cNvPr>
          <p:cNvSpPr txBox="1">
            <a:spLocks/>
          </p:cNvSpPr>
          <p:nvPr/>
        </p:nvSpPr>
        <p:spPr>
          <a:xfrm>
            <a:off x="601382" y="38431"/>
            <a:ext cx="79217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2. </a:t>
            </a:r>
            <a:r>
              <a:rPr lang="ko-KR" altLang="en-US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구현 내용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748883-ACF9-CFE2-8302-D749A2418AA2}"/>
              </a:ext>
            </a:extLst>
          </p:cNvPr>
          <p:cNvSpPr txBox="1"/>
          <p:nvPr/>
        </p:nvSpPr>
        <p:spPr>
          <a:xfrm>
            <a:off x="771505" y="2381780"/>
            <a:ext cx="3354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1) 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카메라 연출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BEA3DF-0A79-D1DB-D4C1-640DCF7FD506}"/>
              </a:ext>
            </a:extLst>
          </p:cNvPr>
          <p:cNvSpPr txBox="1"/>
          <p:nvPr/>
        </p:nvSpPr>
        <p:spPr>
          <a:xfrm>
            <a:off x="771505" y="2711838"/>
            <a:ext cx="44536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Cinemachine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DollyCart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+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SmoothPath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기반 경로 이동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Mathf.SmoothStep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사용하여 게이트 통과 구간에서 카메라가 자연스럽게 감속되도록 구현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BFFB7-5F94-BB97-4CAA-0C8730417583}"/>
              </a:ext>
            </a:extLst>
          </p:cNvPr>
          <p:cNvSpPr txBox="1"/>
          <p:nvPr/>
        </p:nvSpPr>
        <p:spPr>
          <a:xfrm>
            <a:off x="771505" y="3408063"/>
            <a:ext cx="3354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2) 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연출 시퀀스 제어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495774-6527-C6EB-0433-653622F5EEC5}"/>
              </a:ext>
            </a:extLst>
          </p:cNvPr>
          <p:cNvSpPr txBox="1"/>
          <p:nvPr/>
        </p:nvSpPr>
        <p:spPr>
          <a:xfrm>
            <a:off x="771505" y="3747404"/>
            <a:ext cx="44536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카메라 이동과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Flag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애니메이션 동시 시작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Flag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애니메이션은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0.5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초 간격 순차 재생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Coroutine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기반으로 프레임 단위 타이밍 제어</a:t>
            </a:r>
            <a:endParaRPr lang="en-US" altLang="ko-KR" sz="1000" dirty="0" err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69A022-3C1E-2A96-919C-23D03480F5C2}"/>
              </a:ext>
            </a:extLst>
          </p:cNvPr>
          <p:cNvSpPr txBox="1"/>
          <p:nvPr/>
        </p:nvSpPr>
        <p:spPr>
          <a:xfrm>
            <a:off x="771505" y="4443629"/>
            <a:ext cx="3354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3) Skip 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C4ED6E-192F-142F-CEE0-4FC35A8D1DE9}"/>
              </a:ext>
            </a:extLst>
          </p:cNvPr>
          <p:cNvSpPr txBox="1"/>
          <p:nvPr/>
        </p:nvSpPr>
        <p:spPr>
          <a:xfrm>
            <a:off x="771505" y="4782970"/>
            <a:ext cx="51646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PlaybackSpeed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변수 하나로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Wait()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시간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 Animator speed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동시에 제어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모든 타이밍을 일원화해 </a:t>
            </a:r>
            <a:r>
              <a:rPr lang="ko-KR" altLang="en-US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스킵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시에도 연출 순서가 깨지지 않도록 보장</a:t>
            </a:r>
            <a:endParaRPr lang="en-US" altLang="ko-KR" sz="1000" dirty="0" err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42A9D99-B51A-D7B4-257C-46867266B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220" y="785191"/>
            <a:ext cx="2158910" cy="200388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CAE80BE-AEE2-E836-AA0E-4D89C3BB8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0167" y="785191"/>
            <a:ext cx="1718272" cy="200388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0068817-10F9-AD31-65DF-7B276633E8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395" y="3358694"/>
            <a:ext cx="3082995" cy="276679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DCDF4EE-1CF2-07DE-8784-C739DD9C60BC}"/>
              </a:ext>
            </a:extLst>
          </p:cNvPr>
          <p:cNvSpPr txBox="1"/>
          <p:nvPr/>
        </p:nvSpPr>
        <p:spPr>
          <a:xfrm>
            <a:off x="6294220" y="2852987"/>
            <a:ext cx="3974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Cinemachine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DollyCart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Normalized Position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제어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연출에 필요한 레퍼런스와 </a:t>
            </a:r>
            <a:r>
              <a:rPr lang="en-US" altLang="ko-KR" sz="1000" dirty="0"/>
              <a:t>Flag </a:t>
            </a:r>
            <a:r>
              <a:rPr lang="ko-KR" altLang="en-US" sz="1000" dirty="0"/>
              <a:t>데이터를 </a:t>
            </a:r>
            <a:r>
              <a:rPr lang="en-US" altLang="ko-KR" sz="1000" dirty="0"/>
              <a:t>Manager</a:t>
            </a:r>
            <a:r>
              <a:rPr lang="ko-KR" altLang="en-US" sz="1000" dirty="0"/>
              <a:t>에서 관리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A81090-6A65-E9E5-DC67-BF7DB7AC6C4F}"/>
              </a:ext>
            </a:extLst>
          </p:cNvPr>
          <p:cNvSpPr txBox="1"/>
          <p:nvPr/>
        </p:nvSpPr>
        <p:spPr>
          <a:xfrm>
            <a:off x="6487054" y="6189399"/>
            <a:ext cx="43082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Coroutine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기반으로 카메라 이동과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Flag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연출 타이밍 제어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B491DD-10C6-2A19-E37D-811FF86FB816}"/>
              </a:ext>
            </a:extLst>
          </p:cNvPr>
          <p:cNvSpPr txBox="1"/>
          <p:nvPr/>
        </p:nvSpPr>
        <p:spPr>
          <a:xfrm>
            <a:off x="771505" y="6002374"/>
            <a:ext cx="14205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뽑기 연출 영상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TODO 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8908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794A4-8753-CF4D-1998-80D91A63F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22687F-2E69-AB56-FDDA-C8A5B8F6F6C7}"/>
              </a:ext>
            </a:extLst>
          </p:cNvPr>
          <p:cNvSpPr txBox="1"/>
          <p:nvPr/>
        </p:nvSpPr>
        <p:spPr>
          <a:xfrm>
            <a:off x="628414" y="1363994"/>
            <a:ext cx="516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C. 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스테이지 </a:t>
            </a: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&amp; 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보상 시스템</a:t>
            </a:r>
            <a:endParaRPr lang="ko-KR" altLang="en-US" sz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4F337D4A-83C4-1754-BBEE-38E986E0B04A}"/>
              </a:ext>
            </a:extLst>
          </p:cNvPr>
          <p:cNvSpPr txBox="1">
            <a:spLocks/>
          </p:cNvSpPr>
          <p:nvPr/>
        </p:nvSpPr>
        <p:spPr>
          <a:xfrm>
            <a:off x="601382" y="38431"/>
            <a:ext cx="79217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2. </a:t>
            </a:r>
            <a:r>
              <a:rPr lang="ko-KR" altLang="en-US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구현 내용</a:t>
            </a: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0ACCD2B8-E4EA-9E3B-2C77-04035BC7D2FD}"/>
              </a:ext>
            </a:extLst>
          </p:cNvPr>
          <p:cNvSpPr/>
          <p:nvPr/>
        </p:nvSpPr>
        <p:spPr>
          <a:xfrm>
            <a:off x="1386840" y="2081199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1)  전체 흐름</a:t>
            </a:r>
            <a:endParaRPr 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BD7056B-EE8F-865D-296E-E80886F01C7B}"/>
              </a:ext>
            </a:extLst>
          </p:cNvPr>
          <p:cNvGrpSpPr/>
          <p:nvPr/>
        </p:nvGrpSpPr>
        <p:grpSpPr>
          <a:xfrm>
            <a:off x="1935989" y="2540739"/>
            <a:ext cx="2265101" cy="2394535"/>
            <a:chOff x="1136639" y="2551176"/>
            <a:chExt cx="1920240" cy="2029968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9AF9E0AF-8807-6259-CD30-E334C706CCC8}"/>
                </a:ext>
              </a:extLst>
            </p:cNvPr>
            <p:cNvSpPr/>
            <p:nvPr/>
          </p:nvSpPr>
          <p:spPr>
            <a:xfrm>
              <a:off x="1136639" y="2551176"/>
              <a:ext cx="1920240" cy="347472"/>
            </a:xfrm>
            <a:prstGeom prst="rect">
              <a:avLst/>
            </a:prstGeom>
            <a:solidFill>
              <a:srgbClr val="F3F4F6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" name="Text 4">
              <a:extLst>
                <a:ext uri="{FF2B5EF4-FFF2-40B4-BE49-F238E27FC236}">
                  <a16:creationId xmlns:a16="http://schemas.microsoft.com/office/drawing/2014/main" id="{2A97620F-2BAC-9D87-7E15-A94013CA97DA}"/>
                </a:ext>
              </a:extLst>
            </p:cNvPr>
            <p:cNvSpPr/>
            <p:nvPr/>
          </p:nvSpPr>
          <p:spPr>
            <a:xfrm>
              <a:off x="1209791" y="2587752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A1A1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스테이지 </a:t>
              </a:r>
              <a:r>
                <a:rPr lang="en-US" sz="1000" b="1" dirty="0" err="1">
                  <a:solidFill>
                    <a:srgbClr val="1A1A1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선택</a:t>
              </a:r>
              <a:r>
                <a:rPr lang="en-US" sz="800" dirty="0">
                  <a:solidFill>
                    <a:srgbClr val="6B728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  </a:t>
              </a:r>
            </a:p>
            <a:p>
              <a:pPr marL="0" indent="0" algn="ctr">
                <a:buNone/>
              </a:pPr>
              <a:r>
                <a:rPr lang="en-US" sz="800" dirty="0" err="1">
                  <a:solidFill>
                    <a:srgbClr val="6B728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AdventureLobbyPopup</a:t>
              </a:r>
              <a:endParaRPr 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" name="Shape 5">
              <a:extLst>
                <a:ext uri="{FF2B5EF4-FFF2-40B4-BE49-F238E27FC236}">
                  <a16:creationId xmlns:a16="http://schemas.microsoft.com/office/drawing/2014/main" id="{2FD262E6-39ED-E49B-2F14-EEC12F6CF7AD}"/>
                </a:ext>
              </a:extLst>
            </p:cNvPr>
            <p:cNvSpPr/>
            <p:nvPr/>
          </p:nvSpPr>
          <p:spPr>
            <a:xfrm>
              <a:off x="2096759" y="2898648"/>
              <a:ext cx="0" cy="73152"/>
            </a:xfrm>
            <a:prstGeom prst="line">
              <a:avLst/>
            </a:prstGeom>
            <a:noFill/>
            <a:ln w="1270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7861E924-8963-1059-5FAF-F9E62F18AE91}"/>
                </a:ext>
              </a:extLst>
            </p:cNvPr>
            <p:cNvSpPr/>
            <p:nvPr/>
          </p:nvSpPr>
          <p:spPr>
            <a:xfrm>
              <a:off x="1136639" y="2971800"/>
              <a:ext cx="1920240" cy="347472"/>
            </a:xfrm>
            <a:prstGeom prst="rect">
              <a:avLst/>
            </a:prstGeom>
            <a:solidFill>
              <a:srgbClr val="F3F4F6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88D6EF1E-ABF8-E3DD-3CE1-2F3B57654183}"/>
                </a:ext>
              </a:extLst>
            </p:cNvPr>
            <p:cNvSpPr/>
            <p:nvPr/>
          </p:nvSpPr>
          <p:spPr>
            <a:xfrm>
              <a:off x="1209791" y="3008376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A1A1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보상 </a:t>
              </a:r>
              <a:r>
                <a:rPr lang="en-US" sz="1000" b="1" dirty="0" err="1">
                  <a:solidFill>
                    <a:srgbClr val="1A1A1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미리보기</a:t>
              </a:r>
              <a:r>
                <a:rPr lang="en-US" sz="800" dirty="0">
                  <a:solidFill>
                    <a:srgbClr val="6B728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  </a:t>
              </a:r>
            </a:p>
            <a:p>
              <a:pPr marL="0" indent="0" algn="ctr">
                <a:buNone/>
              </a:pPr>
              <a:r>
                <a:rPr lang="en-US" sz="800" dirty="0" err="1">
                  <a:solidFill>
                    <a:srgbClr val="6B728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AdventureDetailPopup</a:t>
              </a:r>
              <a:endParaRPr 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2AD0121F-CA61-7FBB-CB97-5638DA80A202}"/>
                </a:ext>
              </a:extLst>
            </p:cNvPr>
            <p:cNvSpPr/>
            <p:nvPr/>
          </p:nvSpPr>
          <p:spPr>
            <a:xfrm>
              <a:off x="2096759" y="3319272"/>
              <a:ext cx="0" cy="73152"/>
            </a:xfrm>
            <a:prstGeom prst="line">
              <a:avLst/>
            </a:prstGeom>
            <a:noFill/>
            <a:ln w="1270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0" name="Shape 9">
              <a:extLst>
                <a:ext uri="{FF2B5EF4-FFF2-40B4-BE49-F238E27FC236}">
                  <a16:creationId xmlns:a16="http://schemas.microsoft.com/office/drawing/2014/main" id="{71CC586A-EE48-6A2A-CB29-8EB6F3B61896}"/>
                </a:ext>
              </a:extLst>
            </p:cNvPr>
            <p:cNvSpPr/>
            <p:nvPr/>
          </p:nvSpPr>
          <p:spPr>
            <a:xfrm>
              <a:off x="1136639" y="3392424"/>
              <a:ext cx="1920240" cy="347472"/>
            </a:xfrm>
            <a:prstGeom prst="rect">
              <a:avLst/>
            </a:prstGeom>
            <a:solidFill>
              <a:srgbClr val="F3F4F6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C65B3FFA-3442-BD41-E098-9270E82B5D41}"/>
                </a:ext>
              </a:extLst>
            </p:cNvPr>
            <p:cNvSpPr/>
            <p:nvPr/>
          </p:nvSpPr>
          <p:spPr>
            <a:xfrm>
              <a:off x="1209791" y="34290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A1A1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파티 </a:t>
              </a:r>
              <a:r>
                <a:rPr lang="en-US" sz="1000" b="1" dirty="0" err="1">
                  <a:solidFill>
                    <a:srgbClr val="1A1A1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편성</a:t>
              </a:r>
              <a:r>
                <a:rPr lang="en-US" sz="800" dirty="0">
                  <a:solidFill>
                    <a:srgbClr val="6B728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  </a:t>
              </a:r>
            </a:p>
            <a:p>
              <a:pPr marL="0" indent="0" algn="ctr">
                <a:buNone/>
              </a:pPr>
              <a:r>
                <a:rPr lang="en-US" sz="800" dirty="0" err="1">
                  <a:solidFill>
                    <a:srgbClr val="6B728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PartySetupPopup</a:t>
              </a:r>
              <a:endParaRPr 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2" name="Shape 11">
              <a:extLst>
                <a:ext uri="{FF2B5EF4-FFF2-40B4-BE49-F238E27FC236}">
                  <a16:creationId xmlns:a16="http://schemas.microsoft.com/office/drawing/2014/main" id="{50548C3B-D2B0-C0F3-E547-E367BA26FAD2}"/>
                </a:ext>
              </a:extLst>
            </p:cNvPr>
            <p:cNvSpPr/>
            <p:nvPr/>
          </p:nvSpPr>
          <p:spPr>
            <a:xfrm>
              <a:off x="2096759" y="3739896"/>
              <a:ext cx="0" cy="73152"/>
            </a:xfrm>
            <a:prstGeom prst="line">
              <a:avLst/>
            </a:prstGeom>
            <a:noFill/>
            <a:ln w="1270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3" name="Shape 12">
              <a:extLst>
                <a:ext uri="{FF2B5EF4-FFF2-40B4-BE49-F238E27FC236}">
                  <a16:creationId xmlns:a16="http://schemas.microsoft.com/office/drawing/2014/main" id="{E9329F7D-0746-6A9F-DF87-6EC6059583CD}"/>
                </a:ext>
              </a:extLst>
            </p:cNvPr>
            <p:cNvSpPr/>
            <p:nvPr/>
          </p:nvSpPr>
          <p:spPr>
            <a:xfrm>
              <a:off x="1136639" y="3813048"/>
              <a:ext cx="1920240" cy="347472"/>
            </a:xfrm>
            <a:prstGeom prst="rect">
              <a:avLst/>
            </a:prstGeom>
            <a:solidFill>
              <a:srgbClr val="F3F4F6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392C352C-02B6-E749-91A1-A6FE42F21AAB}"/>
                </a:ext>
              </a:extLst>
            </p:cNvPr>
            <p:cNvSpPr/>
            <p:nvPr/>
          </p:nvSpPr>
          <p:spPr>
            <a:xfrm>
              <a:off x="1209791" y="384962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A1A1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전투 </a:t>
              </a:r>
              <a:r>
                <a:rPr lang="en-US" sz="1000" b="1" dirty="0" err="1">
                  <a:solidFill>
                    <a:srgbClr val="1A1A1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진행</a:t>
              </a:r>
              <a:r>
                <a:rPr lang="en-US" sz="800" dirty="0">
                  <a:solidFill>
                    <a:srgbClr val="6B728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  </a:t>
              </a:r>
            </a:p>
            <a:p>
              <a:pPr marL="0" indent="0" algn="ctr">
                <a:buNone/>
              </a:pPr>
              <a:r>
                <a:rPr lang="en-US" sz="800" dirty="0" err="1">
                  <a:solidFill>
                    <a:srgbClr val="6B728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BattleMapManager</a:t>
              </a:r>
              <a:endParaRPr 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5" name="Shape 14">
              <a:extLst>
                <a:ext uri="{FF2B5EF4-FFF2-40B4-BE49-F238E27FC236}">
                  <a16:creationId xmlns:a16="http://schemas.microsoft.com/office/drawing/2014/main" id="{B05C55A9-02C1-91C4-93AC-9B706902FF5D}"/>
                </a:ext>
              </a:extLst>
            </p:cNvPr>
            <p:cNvSpPr/>
            <p:nvPr/>
          </p:nvSpPr>
          <p:spPr>
            <a:xfrm>
              <a:off x="2096759" y="4160520"/>
              <a:ext cx="0" cy="73152"/>
            </a:xfrm>
            <a:prstGeom prst="line">
              <a:avLst/>
            </a:prstGeom>
            <a:noFill/>
            <a:ln w="1270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F51E783E-1678-FB9B-FABC-7ACB042F4D1A}"/>
                </a:ext>
              </a:extLst>
            </p:cNvPr>
            <p:cNvSpPr/>
            <p:nvPr/>
          </p:nvSpPr>
          <p:spPr>
            <a:xfrm>
              <a:off x="1136639" y="4233672"/>
              <a:ext cx="1920240" cy="347472"/>
            </a:xfrm>
            <a:prstGeom prst="rect">
              <a:avLst/>
            </a:prstGeom>
            <a:solidFill>
              <a:srgbClr val="F3F4F6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4D2812C0-9FB9-D4B4-8045-57A58D0E8AA8}"/>
                </a:ext>
              </a:extLst>
            </p:cNvPr>
            <p:cNvSpPr/>
            <p:nvPr/>
          </p:nvSpPr>
          <p:spPr>
            <a:xfrm>
              <a:off x="1209791" y="427024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A1A1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결과 &amp; </a:t>
              </a:r>
              <a:r>
                <a:rPr lang="en-US" sz="1000" b="1" dirty="0" err="1">
                  <a:solidFill>
                    <a:srgbClr val="1A1A1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보상</a:t>
              </a:r>
              <a:r>
                <a:rPr lang="en-US" sz="800" dirty="0">
                  <a:solidFill>
                    <a:srgbClr val="6B728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  </a:t>
              </a:r>
            </a:p>
            <a:p>
              <a:pPr marL="0" indent="0" algn="ctr">
                <a:buNone/>
              </a:pPr>
              <a:r>
                <a:rPr lang="en-US" sz="800" dirty="0" err="1">
                  <a:solidFill>
                    <a:srgbClr val="6B728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 pitchFamily="34" charset="-120"/>
                </a:rPr>
                <a:t>BattleMapPopup</a:t>
              </a:r>
              <a:endParaRPr 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18" name="Text 17">
            <a:extLst>
              <a:ext uri="{FF2B5EF4-FFF2-40B4-BE49-F238E27FC236}">
                <a16:creationId xmlns:a16="http://schemas.microsoft.com/office/drawing/2014/main" id="{947388C4-BE14-C88F-A999-A22DB600D71F}"/>
              </a:ext>
            </a:extLst>
          </p:cNvPr>
          <p:cNvSpPr/>
          <p:nvPr/>
        </p:nvSpPr>
        <p:spPr>
          <a:xfrm>
            <a:off x="1478280" y="512044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2)  스테이지 잠금 &amp; 해제</a:t>
            </a:r>
            <a:endParaRPr 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0CAD8FD-5443-E587-4F9B-AEBAA8F06567}"/>
              </a:ext>
            </a:extLst>
          </p:cNvPr>
          <p:cNvSpPr/>
          <p:nvPr/>
        </p:nvSpPr>
        <p:spPr>
          <a:xfrm>
            <a:off x="1569720" y="55121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rgbClr val="1A7C3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클리어</a:t>
            </a:r>
            <a:r>
              <a:rPr lang="en-US" sz="1000" b="1" dirty="0">
                <a:solidFill>
                  <a:srgbClr val="1A7C3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스테이지</a:t>
            </a:r>
            <a:r>
              <a:rPr lang="en-US" sz="10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→ 재입장 가능, 별점 표시
</a:t>
            </a:r>
            <a:r>
              <a:rPr lang="en-US" sz="1000" b="1" dirty="0">
                <a:solidFill>
                  <a:srgbClr val="1A5FA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첫 번째 미클리어</a:t>
            </a:r>
            <a:r>
              <a:rPr lang="en-US" sz="10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→ 입장 가능 (활성화)
</a:t>
            </a:r>
            <a:r>
              <a:rPr lang="en-US" sz="1000" b="1" dirty="0" err="1">
                <a:solidFill>
                  <a:srgbClr val="88888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이후</a:t>
            </a:r>
            <a:r>
              <a:rPr lang="en-US" sz="1000" b="1" dirty="0">
                <a:solidFill>
                  <a:srgbClr val="88888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스테이지</a:t>
            </a:r>
            <a:r>
              <a:rPr lang="en-US" sz="10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→ 잠금 (비활성화)</a:t>
            </a:r>
            <a:endParaRPr 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1" name="Image 0" descr="/home/claude/MMG_CRPG_1_스테이지선택.png">
            <a:extLst>
              <a:ext uri="{FF2B5EF4-FFF2-40B4-BE49-F238E27FC236}">
                <a16:creationId xmlns:a16="http://schemas.microsoft.com/office/drawing/2014/main" id="{893CF80B-184A-6CA9-69CA-7DC31806E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13429"/>
            <a:ext cx="2057400" cy="1325880"/>
          </a:xfrm>
          <a:prstGeom prst="rect">
            <a:avLst/>
          </a:prstGeom>
        </p:spPr>
      </p:pic>
      <p:sp>
        <p:nvSpPr>
          <p:cNvPr id="22" name="Text 19">
            <a:extLst>
              <a:ext uri="{FF2B5EF4-FFF2-40B4-BE49-F238E27FC236}">
                <a16:creationId xmlns:a16="http://schemas.microsoft.com/office/drawing/2014/main" id="{FA1DA3A9-CB1C-43B6-8078-94FC35BDEAAA}"/>
              </a:ext>
            </a:extLst>
          </p:cNvPr>
          <p:cNvSpPr/>
          <p:nvPr/>
        </p:nvSpPr>
        <p:spPr>
          <a:xfrm>
            <a:off x="6096000" y="3630165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스테이지 선택</a:t>
            </a:r>
            <a:endParaRPr lang="en-US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3" name="Image 1" descr="/home/claude/MMG_CRPG_2_스테이지보상.png">
            <a:extLst>
              <a:ext uri="{FF2B5EF4-FFF2-40B4-BE49-F238E27FC236}">
                <a16:creationId xmlns:a16="http://schemas.microsoft.com/office/drawing/2014/main" id="{F23508E6-9BEA-4269-DD09-336D2D556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6280" y="2313429"/>
            <a:ext cx="2057400" cy="1325880"/>
          </a:xfrm>
          <a:prstGeom prst="rect">
            <a:avLst/>
          </a:prstGeom>
        </p:spPr>
      </p:pic>
      <p:sp>
        <p:nvSpPr>
          <p:cNvPr id="24" name="Text 20">
            <a:extLst>
              <a:ext uri="{FF2B5EF4-FFF2-40B4-BE49-F238E27FC236}">
                <a16:creationId xmlns:a16="http://schemas.microsoft.com/office/drawing/2014/main" id="{5017B121-B947-A116-69C1-85C05BD133A4}"/>
              </a:ext>
            </a:extLst>
          </p:cNvPr>
          <p:cNvSpPr/>
          <p:nvPr/>
        </p:nvSpPr>
        <p:spPr>
          <a:xfrm>
            <a:off x="8336280" y="3630165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보상 미리보기</a:t>
            </a:r>
            <a:endParaRPr lang="en-US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5" name="Image 2" descr="/home/claude/MMG_CRPG_3_파티선택.png">
            <a:extLst>
              <a:ext uri="{FF2B5EF4-FFF2-40B4-BE49-F238E27FC236}">
                <a16:creationId xmlns:a16="http://schemas.microsoft.com/office/drawing/2014/main" id="{348F46F4-3905-495D-35EE-954F3B007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822192"/>
            <a:ext cx="2057400" cy="1325880"/>
          </a:xfrm>
          <a:prstGeom prst="rect">
            <a:avLst/>
          </a:prstGeom>
        </p:spPr>
      </p:pic>
      <p:sp>
        <p:nvSpPr>
          <p:cNvPr id="26" name="Text 21">
            <a:extLst>
              <a:ext uri="{FF2B5EF4-FFF2-40B4-BE49-F238E27FC236}">
                <a16:creationId xmlns:a16="http://schemas.microsoft.com/office/drawing/2014/main" id="{7D8C9C56-F3A9-0532-B10B-5E07A669C59A}"/>
              </a:ext>
            </a:extLst>
          </p:cNvPr>
          <p:cNvSpPr/>
          <p:nvPr/>
        </p:nvSpPr>
        <p:spPr>
          <a:xfrm>
            <a:off x="6096000" y="513892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파티 편성</a:t>
            </a:r>
            <a:endParaRPr lang="en-US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7" name="Image 3" descr="/home/claude/MMG_CRPG_6_결과.png">
            <a:extLst>
              <a:ext uri="{FF2B5EF4-FFF2-40B4-BE49-F238E27FC236}">
                <a16:creationId xmlns:a16="http://schemas.microsoft.com/office/drawing/2014/main" id="{26B40DBA-1FB1-CB60-E67F-8C358A605B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6280" y="3822192"/>
            <a:ext cx="2057400" cy="1325880"/>
          </a:xfrm>
          <a:prstGeom prst="rect">
            <a:avLst/>
          </a:prstGeom>
        </p:spPr>
      </p:pic>
      <p:sp>
        <p:nvSpPr>
          <p:cNvPr id="28" name="Text 22">
            <a:extLst>
              <a:ext uri="{FF2B5EF4-FFF2-40B4-BE49-F238E27FC236}">
                <a16:creationId xmlns:a16="http://schemas.microsoft.com/office/drawing/2014/main" id="{946E80F6-CD2A-DDE2-AA20-9ABE46B71066}"/>
              </a:ext>
            </a:extLst>
          </p:cNvPr>
          <p:cNvSpPr/>
          <p:nvPr/>
        </p:nvSpPr>
        <p:spPr>
          <a:xfrm>
            <a:off x="8336280" y="513892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결과 &amp; 보상</a:t>
            </a:r>
            <a:endParaRPr lang="en-US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9DEDFD0-BE12-414C-3F1B-E443C7869FB0}"/>
              </a:ext>
            </a:extLst>
          </p:cNvPr>
          <p:cNvSpPr/>
          <p:nvPr/>
        </p:nvSpPr>
        <p:spPr>
          <a:xfrm>
            <a:off x="6096000" y="54406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4)  보상 구조</a:t>
            </a:r>
            <a:endParaRPr 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6D3D159D-6596-8A64-26ED-8F1F0F585C9B}"/>
              </a:ext>
            </a:extLst>
          </p:cNvPr>
          <p:cNvSpPr/>
          <p:nvPr/>
        </p:nvSpPr>
        <p:spPr>
          <a:xfrm>
            <a:off x="5593080" y="2112605"/>
            <a:ext cx="0" cy="429768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25496F00-466C-9810-37DD-707438DB0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979969"/>
              </p:ext>
            </p:extLst>
          </p:nvPr>
        </p:nvGraphicFramePr>
        <p:xfrm>
          <a:off x="6187440" y="5850749"/>
          <a:ext cx="4297679" cy="6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920">
                  <a:extLst>
                    <a:ext uri="{9D8B030D-6E8A-4147-A177-3AD203B41FA5}">
                      <a16:colId xmlns:a16="http://schemas.microsoft.com/office/drawing/2014/main" val="4261539052"/>
                    </a:ext>
                  </a:extLst>
                </a:gridCol>
                <a:gridCol w="1535667">
                  <a:extLst>
                    <a:ext uri="{9D8B030D-6E8A-4147-A177-3AD203B41FA5}">
                      <a16:colId xmlns:a16="http://schemas.microsoft.com/office/drawing/2014/main" val="4029826606"/>
                    </a:ext>
                  </a:extLst>
                </a:gridCol>
                <a:gridCol w="977244">
                  <a:extLst>
                    <a:ext uri="{9D8B030D-6E8A-4147-A177-3AD203B41FA5}">
                      <a16:colId xmlns:a16="http://schemas.microsoft.com/office/drawing/2014/main" val="487569344"/>
                    </a:ext>
                  </a:extLst>
                </a:gridCol>
                <a:gridCol w="845848">
                  <a:extLst>
                    <a:ext uri="{9D8B030D-6E8A-4147-A177-3AD203B41FA5}">
                      <a16:colId xmlns:a16="http://schemas.microsoft.com/office/drawing/2014/main" val="2417432676"/>
                    </a:ext>
                  </a:extLst>
                </a:gridCol>
              </a:tblGrid>
              <a:tr h="229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필드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지급 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UI</a:t>
                      </a:r>
                      <a:endParaRPr lang="ko-KR" altLang="en-US" sz="8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881768"/>
                  </a:ext>
                </a:extLst>
              </a:tr>
              <a:tr h="229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첫 클리어 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solidFill>
                            <a:srgbClr val="166534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StagePb.FirstRewards</a:t>
                      </a:r>
                      <a:r>
                        <a:rPr lang="en-US" altLang="ko-KR" sz="800" dirty="0">
                          <a:solidFill>
                            <a:srgbClr val="166534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 </a:t>
                      </a:r>
                      <a:endParaRPr lang="ko-KR" alt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solidFill>
                            <a:srgbClr val="166534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최초</a:t>
                      </a:r>
                      <a:r>
                        <a:rPr lang="en-US" altLang="ko-KR" sz="800" dirty="0">
                          <a:solidFill>
                            <a:srgbClr val="166534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800" dirty="0" err="1">
                          <a:solidFill>
                            <a:srgbClr val="166534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클리어</a:t>
                      </a:r>
                      <a:r>
                        <a:rPr lang="en-US" altLang="ko-KR" sz="800" dirty="0">
                          <a:solidFill>
                            <a:srgbClr val="166534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 1회 </a:t>
                      </a:r>
                      <a:endParaRPr lang="ko-KR" alt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166534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●</a:t>
                      </a:r>
                      <a:r>
                        <a:rPr lang="en-US" altLang="ko-KR" sz="800" dirty="0" err="1">
                          <a:solidFill>
                            <a:srgbClr val="166534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초록</a:t>
                      </a:r>
                      <a:endParaRPr lang="ko-KR" alt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85651"/>
                  </a:ext>
                </a:extLst>
              </a:tr>
              <a:tr h="229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일반 드롭</a:t>
                      </a:r>
                      <a:endParaRPr lang="ko-KR" alt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StagePb.Drops</a:t>
                      </a:r>
                      <a:r>
                        <a:rPr lang="en-US" altLang="ko-KR" sz="800" dirty="0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 </a:t>
                      </a:r>
                      <a:endParaRPr lang="ko-KR" alt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매 </a:t>
                      </a:r>
                      <a:r>
                        <a:rPr lang="en-US" altLang="ko-KR" sz="800" dirty="0" err="1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클리어</a:t>
                      </a:r>
                      <a:r>
                        <a:rPr lang="en-US" altLang="ko-KR" sz="800" dirty="0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 </a:t>
                      </a:r>
                      <a:endParaRPr lang="ko-KR" alt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○</a:t>
                      </a:r>
                      <a:r>
                        <a:rPr lang="en-US" altLang="ko-KR" sz="800" dirty="0" err="1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흰색</a:t>
                      </a:r>
                      <a:endParaRPr lang="ko-KR" alt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496058"/>
                  </a:ext>
                </a:extLst>
              </a:tr>
            </a:tbl>
          </a:graphicData>
        </a:graphic>
      </p:graphicFrame>
      <p:sp>
        <p:nvSpPr>
          <p:cNvPr id="38" name="Text 30">
            <a:extLst>
              <a:ext uri="{FF2B5EF4-FFF2-40B4-BE49-F238E27FC236}">
                <a16:creationId xmlns:a16="http://schemas.microsoft.com/office/drawing/2014/main" id="{4ACB5E97-ABD3-46A9-BAB4-7827ABC6A623}"/>
              </a:ext>
            </a:extLst>
          </p:cNvPr>
          <p:cNvSpPr/>
          <p:nvPr/>
        </p:nvSpPr>
        <p:spPr>
          <a:xfrm>
            <a:off x="1569720" y="6410285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75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 </a:t>
            </a:r>
            <a:r>
              <a:rPr lang="ko-KR" altLang="en-US" sz="75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진행 </a:t>
            </a:r>
            <a:r>
              <a:rPr lang="en-US" altLang="ko-KR" sz="75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	                        ( </a:t>
            </a:r>
            <a:r>
              <a:rPr lang="ko-KR" altLang="en-US" sz="75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</a:t>
            </a:r>
            <a:r>
              <a:rPr lang="en-US" altLang="ko-KR" sz="75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 </a:t>
            </a:r>
            <a:r>
              <a:rPr lang="ko-KR" altLang="en-US" sz="75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</a:t>
            </a:r>
            <a:r>
              <a:rPr lang="en-US" altLang="ko-KR" sz="75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75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7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 |  POST /api/pb/combat/start  →  POST /api/pb/combat/{id}/finish</a:t>
            </a:r>
            <a:endParaRPr lang="en-US" sz="750" dirty="0"/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ED031505-F524-42F7-28FC-CDE463C5F481}"/>
              </a:ext>
            </a:extLst>
          </p:cNvPr>
          <p:cNvSpPr/>
          <p:nvPr/>
        </p:nvSpPr>
        <p:spPr>
          <a:xfrm>
            <a:off x="6096000" y="1989759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3) </a:t>
            </a:r>
            <a:r>
              <a:rPr lang="ko-KR" altLang="en-US" sz="1400" b="1" dirty="0">
                <a:solidFill>
                  <a:srgbClr val="3333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게임 진행 화면</a:t>
            </a:r>
            <a:endParaRPr 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094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915C4-7782-5BA6-BB32-920A54A02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21F7056E-29D8-17C4-9471-4953E4EF4553}"/>
              </a:ext>
            </a:extLst>
          </p:cNvPr>
          <p:cNvSpPr/>
          <p:nvPr/>
        </p:nvSpPr>
        <p:spPr>
          <a:xfrm>
            <a:off x="2591818" y="3597909"/>
            <a:ext cx="1184746" cy="546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0D0F9DC3-7893-85B8-D7BE-2D94D800409F}"/>
              </a:ext>
            </a:extLst>
          </p:cNvPr>
          <p:cNvSpPr/>
          <p:nvPr/>
        </p:nvSpPr>
        <p:spPr>
          <a:xfrm>
            <a:off x="3853564" y="3592943"/>
            <a:ext cx="1089834" cy="546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461382F8-F639-A4E8-5151-BF3E8A6C4D32}"/>
              </a:ext>
            </a:extLst>
          </p:cNvPr>
          <p:cNvSpPr/>
          <p:nvPr/>
        </p:nvSpPr>
        <p:spPr>
          <a:xfrm>
            <a:off x="1429605" y="3596217"/>
            <a:ext cx="1089834" cy="546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246233C-2E25-DBC4-BD0D-513C64011242}"/>
              </a:ext>
            </a:extLst>
          </p:cNvPr>
          <p:cNvSpPr/>
          <p:nvPr/>
        </p:nvSpPr>
        <p:spPr>
          <a:xfrm>
            <a:off x="1429605" y="2359582"/>
            <a:ext cx="3450336" cy="31433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B8F6F8B-26D8-3680-B0C9-8AB7062ADD28}"/>
              </a:ext>
            </a:extLst>
          </p:cNvPr>
          <p:cNvSpPr/>
          <p:nvPr/>
        </p:nvSpPr>
        <p:spPr>
          <a:xfrm>
            <a:off x="1429605" y="2667231"/>
            <a:ext cx="3450336" cy="53413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2BB5CF-AD21-193B-0597-97BE0511F07E}"/>
              </a:ext>
            </a:extLst>
          </p:cNvPr>
          <p:cNvSpPr txBox="1"/>
          <p:nvPr/>
        </p:nvSpPr>
        <p:spPr>
          <a:xfrm>
            <a:off x="628414" y="1363994"/>
            <a:ext cx="516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D. UI 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시스템 구조 </a:t>
            </a: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(Popup / Pool)</a:t>
            </a:r>
            <a:endParaRPr lang="ko-KR" altLang="en-US" sz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8B5F399F-18E2-EB33-4E4D-F2718A04844D}"/>
              </a:ext>
            </a:extLst>
          </p:cNvPr>
          <p:cNvSpPr txBox="1">
            <a:spLocks/>
          </p:cNvSpPr>
          <p:nvPr/>
        </p:nvSpPr>
        <p:spPr>
          <a:xfrm>
            <a:off x="601382" y="38431"/>
            <a:ext cx="79217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2. </a:t>
            </a:r>
            <a:r>
              <a:rPr lang="ko-KR" altLang="en-US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구현 내용</a:t>
            </a: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3DC491DF-A172-64F5-F44D-51FF23185987}"/>
              </a:ext>
            </a:extLst>
          </p:cNvPr>
          <p:cNvSpPr/>
          <p:nvPr/>
        </p:nvSpPr>
        <p:spPr>
          <a:xfrm>
            <a:off x="1323779" y="1866597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1)  씬 구조</a:t>
            </a:r>
            <a:endParaRPr 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5DD2A6DD-CC0E-043F-36AD-4D940805C816}"/>
              </a:ext>
            </a:extLst>
          </p:cNvPr>
          <p:cNvSpPr/>
          <p:nvPr/>
        </p:nvSpPr>
        <p:spPr>
          <a:xfrm>
            <a:off x="1448459" y="2367353"/>
            <a:ext cx="1993393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LobbyScene  (항상 유지)</a:t>
            </a:r>
            <a:endParaRPr lang="en-US" sz="10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AB6ABD6-417C-6041-A4FE-1C80F00B4A49}"/>
              </a:ext>
            </a:extLst>
          </p:cNvPr>
          <p:cNvSpPr/>
          <p:nvPr/>
        </p:nvSpPr>
        <p:spPr>
          <a:xfrm>
            <a:off x="1467313" y="2712970"/>
            <a:ext cx="2815786" cy="137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 └  LoginPopup  /  LobbyPopup  /  InventoryPopup</a:t>
            </a:r>
            <a:endParaRPr lang="en-US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E0E7399D-EA79-B8E8-C04C-83487346F79C}"/>
              </a:ext>
            </a:extLst>
          </p:cNvPr>
          <p:cNvSpPr/>
          <p:nvPr/>
        </p:nvSpPr>
        <p:spPr>
          <a:xfrm>
            <a:off x="1467313" y="2850675"/>
            <a:ext cx="2346960" cy="170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 └  ShopPopup  /  AdventureLobbyPopup</a:t>
            </a:r>
            <a:endParaRPr lang="en-US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44F1E4A2-E171-D1AB-3F90-FE57AB0098BD}"/>
              </a:ext>
            </a:extLst>
          </p:cNvPr>
          <p:cNvSpPr/>
          <p:nvPr/>
        </p:nvSpPr>
        <p:spPr>
          <a:xfrm>
            <a:off x="1467313" y="2979106"/>
            <a:ext cx="3371089" cy="189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 └  AdventureDetailPopup  /  PartySetupPopup  /  BattleMapPopup</a:t>
            </a:r>
            <a:endParaRPr lang="en-US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38672D8-1BDF-E34D-A854-5F6EF40E1352}"/>
              </a:ext>
            </a:extLst>
          </p:cNvPr>
          <p:cNvSpPr/>
          <p:nvPr/>
        </p:nvSpPr>
        <p:spPr>
          <a:xfrm>
            <a:off x="1429605" y="3342970"/>
            <a:ext cx="2346959" cy="192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+ Additive Load  (필요 시 로드 / 언로드)</a:t>
            </a:r>
            <a:endParaRPr lang="en-US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92FC21E4-56F2-EC1F-0E9F-E7DFAEF5346D}"/>
              </a:ext>
            </a:extLst>
          </p:cNvPr>
          <p:cNvSpPr/>
          <p:nvPr/>
        </p:nvSpPr>
        <p:spPr>
          <a:xfrm>
            <a:off x="1402946" y="3618245"/>
            <a:ext cx="116221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BattleMapScene</a:t>
            </a: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전투 3D 오브젝트</a:t>
            </a:r>
            <a:endParaRPr lang="en-US" sz="8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1C46285A-DDFF-7177-6A54-BC5362E3B4E2}"/>
              </a:ext>
            </a:extLst>
          </p:cNvPr>
          <p:cNvSpPr/>
          <p:nvPr/>
        </p:nvSpPr>
        <p:spPr>
          <a:xfrm>
            <a:off x="2584564" y="3618245"/>
            <a:ext cx="117596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 err="1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PartySetupScene</a:t>
            </a: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파티 편성 3D</a:t>
            </a:r>
            <a:endParaRPr lang="en-US" sz="8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8545118B-53A0-B5BC-8664-32A28BE67FB6}"/>
              </a:ext>
            </a:extLst>
          </p:cNvPr>
          <p:cNvSpPr/>
          <p:nvPr/>
        </p:nvSpPr>
        <p:spPr>
          <a:xfrm>
            <a:off x="3918689" y="3618245"/>
            <a:ext cx="9235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GachaScene</a:t>
            </a: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가챠 3D 연출</a:t>
            </a:r>
            <a:endParaRPr lang="en-US" sz="8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09186FD1-1F4E-4A2D-4596-00F95B7F850E}"/>
              </a:ext>
            </a:extLst>
          </p:cNvPr>
          <p:cNvSpPr/>
          <p:nvPr/>
        </p:nvSpPr>
        <p:spPr>
          <a:xfrm>
            <a:off x="1316877" y="4397244"/>
            <a:ext cx="93156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2)  이점</a:t>
            </a:r>
            <a:endParaRPr 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F5C5E4A1-4B19-180E-AC72-3E05A2C78822}"/>
              </a:ext>
            </a:extLst>
          </p:cNvPr>
          <p:cNvSpPr/>
          <p:nvPr/>
        </p:nvSpPr>
        <p:spPr>
          <a:xfrm>
            <a:off x="1208027" y="5147678"/>
            <a:ext cx="3611880" cy="730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Text 29">
            <a:extLst>
              <a:ext uri="{FF2B5EF4-FFF2-40B4-BE49-F238E27FC236}">
                <a16:creationId xmlns:a16="http://schemas.microsoft.com/office/drawing/2014/main" id="{66113B4F-F75A-BE3F-EB8E-7024D4827A61}"/>
              </a:ext>
            </a:extLst>
          </p:cNvPr>
          <p:cNvSpPr/>
          <p:nvPr/>
        </p:nvSpPr>
        <p:spPr>
          <a:xfrm>
            <a:off x="1366886" y="5638309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9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트레이드오프</a:t>
            </a:r>
            <a:endParaRPr lang="en-US" sz="9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1" name="Text 30">
            <a:extLst>
              <a:ext uri="{FF2B5EF4-FFF2-40B4-BE49-F238E27FC236}">
                <a16:creationId xmlns:a16="http://schemas.microsoft.com/office/drawing/2014/main" id="{BB9FF170-480C-CCE5-37B8-35DA4BFAEC9D}"/>
              </a:ext>
            </a:extLst>
          </p:cNvPr>
          <p:cNvSpPr/>
          <p:nvPr/>
        </p:nvSpPr>
        <p:spPr>
          <a:xfrm>
            <a:off x="617942" y="6076816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Shape 32">
            <a:extLst>
              <a:ext uri="{FF2B5EF4-FFF2-40B4-BE49-F238E27FC236}">
                <a16:creationId xmlns:a16="http://schemas.microsoft.com/office/drawing/2014/main" id="{8E154AB9-F85C-2B67-E296-18A103E03D5F}"/>
              </a:ext>
            </a:extLst>
          </p:cNvPr>
          <p:cNvSpPr/>
          <p:nvPr/>
        </p:nvSpPr>
        <p:spPr>
          <a:xfrm>
            <a:off x="5548686" y="2202684"/>
            <a:ext cx="0" cy="438912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33">
            <a:extLst>
              <a:ext uri="{FF2B5EF4-FFF2-40B4-BE49-F238E27FC236}">
                <a16:creationId xmlns:a16="http://schemas.microsoft.com/office/drawing/2014/main" id="{09D48B8A-6E51-83B7-A753-8EED724A1C33}"/>
              </a:ext>
            </a:extLst>
          </p:cNvPr>
          <p:cNvSpPr/>
          <p:nvPr/>
        </p:nvSpPr>
        <p:spPr>
          <a:xfrm>
            <a:off x="6085952" y="1669729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3)  Hierarchy  —  Additive 씬</a:t>
            </a:r>
            <a:endParaRPr 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5" name="Shape 34">
            <a:extLst>
              <a:ext uri="{FF2B5EF4-FFF2-40B4-BE49-F238E27FC236}">
                <a16:creationId xmlns:a16="http://schemas.microsoft.com/office/drawing/2014/main" id="{96F7E333-85C8-4B50-97BD-22A91D55F492}"/>
              </a:ext>
            </a:extLst>
          </p:cNvPr>
          <p:cNvSpPr/>
          <p:nvPr/>
        </p:nvSpPr>
        <p:spPr>
          <a:xfrm>
            <a:off x="6293338" y="2066033"/>
            <a:ext cx="1383792" cy="914400"/>
          </a:xfrm>
          <a:prstGeom prst="rect">
            <a:avLst/>
          </a:prstGeom>
          <a:solidFill>
            <a:srgbClr val="2D2D2D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0" descr="/home/claude/hierarchy_battle_2x.png">
            <a:extLst>
              <a:ext uri="{FF2B5EF4-FFF2-40B4-BE49-F238E27FC236}">
                <a16:creationId xmlns:a16="http://schemas.microsoft.com/office/drawing/2014/main" id="{BDD752A0-7D77-D584-914C-9FBA55B476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29914" y="2093465"/>
            <a:ext cx="1310640" cy="841248"/>
          </a:xfrm>
          <a:prstGeom prst="rect">
            <a:avLst/>
          </a:prstGeom>
        </p:spPr>
      </p:pic>
      <p:sp>
        <p:nvSpPr>
          <p:cNvPr id="27" name="Text 35">
            <a:extLst>
              <a:ext uri="{FF2B5EF4-FFF2-40B4-BE49-F238E27FC236}">
                <a16:creationId xmlns:a16="http://schemas.microsoft.com/office/drawing/2014/main" id="{73044862-B688-CAB9-73B8-402465B5660B}"/>
              </a:ext>
            </a:extLst>
          </p:cNvPr>
          <p:cNvSpPr/>
          <p:nvPr/>
        </p:nvSpPr>
        <p:spPr>
          <a:xfrm>
            <a:off x="6293338" y="3007865"/>
            <a:ext cx="1383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BattleMapScene</a:t>
            </a:r>
            <a:endParaRPr 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" name="Shape 36">
            <a:extLst>
              <a:ext uri="{FF2B5EF4-FFF2-40B4-BE49-F238E27FC236}">
                <a16:creationId xmlns:a16="http://schemas.microsoft.com/office/drawing/2014/main" id="{093C0387-2DA7-7ADC-06E6-D3764B1ECD5F}"/>
              </a:ext>
            </a:extLst>
          </p:cNvPr>
          <p:cNvSpPr/>
          <p:nvPr/>
        </p:nvSpPr>
        <p:spPr>
          <a:xfrm>
            <a:off x="7750282" y="2066033"/>
            <a:ext cx="1383792" cy="914400"/>
          </a:xfrm>
          <a:prstGeom prst="rect">
            <a:avLst/>
          </a:prstGeom>
          <a:solidFill>
            <a:srgbClr val="2D2D2D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" descr="/home/claude/hierarchy_party_2x.png">
            <a:extLst>
              <a:ext uri="{FF2B5EF4-FFF2-40B4-BE49-F238E27FC236}">
                <a16:creationId xmlns:a16="http://schemas.microsoft.com/office/drawing/2014/main" id="{7E4C563D-73D9-CEDD-8664-C2CF257375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86858" y="2093465"/>
            <a:ext cx="1310640" cy="841248"/>
          </a:xfrm>
          <a:prstGeom prst="rect">
            <a:avLst/>
          </a:prstGeom>
        </p:spPr>
      </p:pic>
      <p:sp>
        <p:nvSpPr>
          <p:cNvPr id="30" name="Text 37">
            <a:extLst>
              <a:ext uri="{FF2B5EF4-FFF2-40B4-BE49-F238E27FC236}">
                <a16:creationId xmlns:a16="http://schemas.microsoft.com/office/drawing/2014/main" id="{9E3E20BD-A1E0-F7B4-8C18-ABCD8F22B537}"/>
              </a:ext>
            </a:extLst>
          </p:cNvPr>
          <p:cNvSpPr/>
          <p:nvPr/>
        </p:nvSpPr>
        <p:spPr>
          <a:xfrm>
            <a:off x="7750282" y="3007865"/>
            <a:ext cx="1383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PartySetupScene</a:t>
            </a:r>
            <a:endParaRPr 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" name="Shape 38">
            <a:extLst>
              <a:ext uri="{FF2B5EF4-FFF2-40B4-BE49-F238E27FC236}">
                <a16:creationId xmlns:a16="http://schemas.microsoft.com/office/drawing/2014/main" id="{99DD735A-3343-9C9E-441E-BDFD04FE1D0A}"/>
              </a:ext>
            </a:extLst>
          </p:cNvPr>
          <p:cNvSpPr/>
          <p:nvPr/>
        </p:nvSpPr>
        <p:spPr>
          <a:xfrm>
            <a:off x="9207226" y="2066033"/>
            <a:ext cx="1383792" cy="914400"/>
          </a:xfrm>
          <a:prstGeom prst="rect">
            <a:avLst/>
          </a:prstGeom>
          <a:solidFill>
            <a:srgbClr val="2D2D2D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2" descr="/home/claude/hierarchy_gacha_2x.png">
            <a:extLst>
              <a:ext uri="{FF2B5EF4-FFF2-40B4-BE49-F238E27FC236}">
                <a16:creationId xmlns:a16="http://schemas.microsoft.com/office/drawing/2014/main" id="{5969D56A-BB29-C697-D916-4A8BD2E9A4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43802" y="2093465"/>
            <a:ext cx="1310640" cy="841248"/>
          </a:xfrm>
          <a:prstGeom prst="rect">
            <a:avLst/>
          </a:prstGeom>
        </p:spPr>
      </p:pic>
      <p:sp>
        <p:nvSpPr>
          <p:cNvPr id="33" name="Text 39">
            <a:extLst>
              <a:ext uri="{FF2B5EF4-FFF2-40B4-BE49-F238E27FC236}">
                <a16:creationId xmlns:a16="http://schemas.microsoft.com/office/drawing/2014/main" id="{AD282998-187B-9C1D-FABD-4C2EFE10A421}"/>
              </a:ext>
            </a:extLst>
          </p:cNvPr>
          <p:cNvSpPr/>
          <p:nvPr/>
        </p:nvSpPr>
        <p:spPr>
          <a:xfrm>
            <a:off x="9207226" y="3007865"/>
            <a:ext cx="1383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GachaScene</a:t>
            </a:r>
            <a:endParaRPr 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7" name="Text 42">
            <a:extLst>
              <a:ext uri="{FF2B5EF4-FFF2-40B4-BE49-F238E27FC236}">
                <a16:creationId xmlns:a16="http://schemas.microsoft.com/office/drawing/2014/main" id="{AB27FEFE-D59A-7BBB-DC82-F298E476E8F4}"/>
              </a:ext>
            </a:extLst>
          </p:cNvPr>
          <p:cNvSpPr/>
          <p:nvPr/>
        </p:nvSpPr>
        <p:spPr>
          <a:xfrm>
            <a:off x="6084736" y="3341352"/>
            <a:ext cx="40295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3333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4) </a:t>
            </a:r>
            <a:r>
              <a:rPr lang="en-US" sz="1400" b="1" dirty="0" err="1">
                <a:solidFill>
                  <a:srgbClr val="3333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UIPrefabPool</a:t>
            </a:r>
            <a:r>
              <a:rPr lang="en-US" sz="1400" b="1" dirty="0">
                <a:solidFill>
                  <a:srgbClr val="3333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33333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내부 코드</a:t>
            </a:r>
            <a:endParaRPr 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1C130E-53A3-9C0A-C4B8-16FB3DC40682}"/>
              </a:ext>
            </a:extLst>
          </p:cNvPr>
          <p:cNvSpPr txBox="1"/>
          <p:nvPr/>
        </p:nvSpPr>
        <p:spPr>
          <a:xfrm>
            <a:off x="1366886" y="4766007"/>
            <a:ext cx="33498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씬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전환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없는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빠른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화면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이동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(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팝업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페이드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인/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아웃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팝업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단위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독립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상태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→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취소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시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이전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화면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즉시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복원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Additive 씬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필요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시만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로드·언로드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,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메모리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효율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확보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UIPrefabPool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재사용으로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Instantiate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비용</a:t>
            </a:r>
            <a:r>
              <a:rPr lang="en-US" altLang="ko-KR" sz="1000" dirty="0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제거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964162-E8C5-1EDC-50C2-4DB0D7F7A82B}"/>
              </a:ext>
            </a:extLst>
          </p:cNvPr>
          <p:cNvSpPr txBox="1"/>
          <p:nvPr/>
        </p:nvSpPr>
        <p:spPr>
          <a:xfrm>
            <a:off x="1323779" y="5901939"/>
            <a:ext cx="31740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팝업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메모리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누적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→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미사용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팝업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주기적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Unload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필요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  <a:cs typeface="Malgun Gothic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팝업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간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의존성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복잡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→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열기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/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닫기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흐름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관리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주의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D66CAD2A-1652-6E7C-002A-211356D1A1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078" y="5549675"/>
            <a:ext cx="3941018" cy="953088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0514299-DEB7-7D7A-B106-5788ABB8DAFF}"/>
              </a:ext>
            </a:extLst>
          </p:cNvPr>
          <p:cNvSpPr txBox="1"/>
          <p:nvPr/>
        </p:nvSpPr>
        <p:spPr>
          <a:xfrm>
            <a:off x="6190381" y="5333390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 예시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B6DF129F-877E-DEB4-E2D0-32BB715982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338" y="3764928"/>
            <a:ext cx="3689687" cy="151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87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614B-74A0-8AF6-D85A-070A1FAA5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CABC468-7D48-8042-B95A-567BEFF2D1FA}"/>
              </a:ext>
            </a:extLst>
          </p:cNvPr>
          <p:cNvSpPr/>
          <p:nvPr/>
        </p:nvSpPr>
        <p:spPr>
          <a:xfrm>
            <a:off x="6653955" y="3713826"/>
            <a:ext cx="1751953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92D13E-EAAF-EBC0-C2C1-1620F907F14F}"/>
              </a:ext>
            </a:extLst>
          </p:cNvPr>
          <p:cNvSpPr txBox="1"/>
          <p:nvPr/>
        </p:nvSpPr>
        <p:spPr>
          <a:xfrm>
            <a:off x="628414" y="1363994"/>
            <a:ext cx="516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E. 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데이터 캐시 </a:t>
            </a:r>
            <a:r>
              <a:rPr lang="en-US" altLang="ko-KR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&amp; 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부팅 최적화</a:t>
            </a:r>
            <a:endParaRPr lang="ko-KR" altLang="en-US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723984D1-CAAE-B42E-29C1-38BA6F7F9F0D}"/>
              </a:ext>
            </a:extLst>
          </p:cNvPr>
          <p:cNvSpPr txBox="1">
            <a:spLocks/>
          </p:cNvSpPr>
          <p:nvPr/>
        </p:nvSpPr>
        <p:spPr>
          <a:xfrm>
            <a:off x="601382" y="38431"/>
            <a:ext cx="79217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2. </a:t>
            </a:r>
            <a:r>
              <a:rPr lang="ko-KR" altLang="en-US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구현 내용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6293D4-9CF0-B173-2422-1D6A02170497}"/>
              </a:ext>
            </a:extLst>
          </p:cNvPr>
          <p:cNvSpPr txBox="1"/>
          <p:nvPr/>
        </p:nvSpPr>
        <p:spPr>
          <a:xfrm>
            <a:off x="919135" y="2023173"/>
            <a:ext cx="1628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1) 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캐시 구조</a:t>
            </a:r>
            <a:endParaRPr lang="ko-KR" alt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9C14FA4-5B7D-0B7B-E885-1DBA7798F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320277"/>
              </p:ext>
            </p:extLst>
          </p:nvPr>
        </p:nvGraphicFramePr>
        <p:xfrm>
          <a:off x="1288544" y="2442492"/>
          <a:ext cx="3653653" cy="1682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2694">
                  <a:extLst>
                    <a:ext uri="{9D8B030D-6E8A-4147-A177-3AD203B41FA5}">
                      <a16:colId xmlns:a16="http://schemas.microsoft.com/office/drawing/2014/main" val="835593084"/>
                    </a:ext>
                  </a:extLst>
                </a:gridCol>
                <a:gridCol w="2380959">
                  <a:extLst>
                    <a:ext uri="{9D8B030D-6E8A-4147-A177-3AD203B41FA5}">
                      <a16:colId xmlns:a16="http://schemas.microsoft.com/office/drawing/2014/main" val="1376851931"/>
                    </a:ext>
                  </a:extLst>
                </a:gridCol>
              </a:tblGrid>
              <a:tr h="1891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캐시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255630"/>
                  </a:ext>
                </a:extLst>
              </a:tr>
              <a:tr h="287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MasterDataCache</a:t>
                      </a:r>
                      <a:endParaRPr lang="ko-KR" alt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희귀도·원소·역할</a:t>
                      </a:r>
                      <a:r>
                        <a:rPr lang="en-US" altLang="ko-KR" sz="800" dirty="0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800" dirty="0" err="1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메타</a:t>
                      </a:r>
                      <a:r>
                        <a:rPr lang="en-US" altLang="ko-KR" sz="800" dirty="0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 + </a:t>
                      </a:r>
                      <a:r>
                        <a:rPr lang="en-US" altLang="ko-KR" sz="800" dirty="0" err="1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아이콘</a:t>
                      </a:r>
                      <a:r>
                        <a:rPr lang="en-US" altLang="ko-KR" sz="800" dirty="0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초상화</a:t>
                      </a:r>
                      <a:r>
                        <a:rPr lang="en-US" altLang="ko-KR" sz="800" dirty="0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800" dirty="0" err="1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이미지</a:t>
                      </a:r>
                      <a:endParaRPr lang="en-US" altLang="ko-KR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243412"/>
                  </a:ext>
                </a:extLst>
              </a:tr>
              <a:tr h="287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CharacterCache</a:t>
                      </a:r>
                      <a:endParaRPr lang="ko-KR" alt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캐릭터 마스터 데이터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365929"/>
                  </a:ext>
                </a:extLst>
              </a:tr>
              <a:tr h="287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ItemCache</a:t>
                      </a:r>
                      <a:endParaRPr lang="ko-KR" alt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아이템 데이터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079625"/>
                  </a:ext>
                </a:extLst>
              </a:tr>
              <a:tr h="287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BattleContentsCache</a:t>
                      </a:r>
                      <a:endParaRPr lang="ko-KR" alt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챕터·스테이지·스킬</a:t>
                      </a:r>
                      <a:r>
                        <a:rPr lang="en-US" altLang="ko-KR" sz="800" dirty="0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800" dirty="0" err="1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데이터</a:t>
                      </a:r>
                      <a:endParaRPr lang="en-US" altLang="ko-KR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726105"/>
                  </a:ext>
                </a:extLst>
              </a:tr>
              <a:tr h="287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UIImageCache</a:t>
                      </a:r>
                      <a:endParaRPr lang="ko-KR" altLang="en-US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UI </a:t>
                      </a:r>
                      <a:r>
                        <a:rPr lang="en-US" altLang="ko-KR" sz="800" dirty="0" err="1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스프라이트</a:t>
                      </a:r>
                      <a:r>
                        <a:rPr lang="en-US" altLang="ko-KR" sz="800" dirty="0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 (</a:t>
                      </a:r>
                      <a:r>
                        <a:rPr lang="en-US" altLang="ko-KR" sz="800" dirty="0" err="1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Addressables</a:t>
                      </a:r>
                      <a:r>
                        <a:rPr lang="en-US" altLang="ko-KR" sz="800" dirty="0">
                          <a:solidFill>
                            <a:srgbClr val="37415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Malgun Gothic" pitchFamily="34" charset="-120"/>
                        </a:rPr>
                        <a:t>)</a:t>
                      </a:r>
                      <a:endParaRPr lang="en-US" altLang="ko-KR" sz="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30784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E218B22-091F-272E-00F3-9CC873254E54}"/>
              </a:ext>
            </a:extLst>
          </p:cNvPr>
          <p:cNvSpPr txBox="1"/>
          <p:nvPr/>
        </p:nvSpPr>
        <p:spPr>
          <a:xfrm>
            <a:off x="931362" y="4199977"/>
            <a:ext cx="1628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2) 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발견 </a:t>
            </a:r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&amp; 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개선</a:t>
            </a:r>
            <a:endParaRPr lang="ko-KR" alt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" name="Shape 22">
            <a:extLst>
              <a:ext uri="{FF2B5EF4-FFF2-40B4-BE49-F238E27FC236}">
                <a16:creationId xmlns:a16="http://schemas.microsoft.com/office/drawing/2014/main" id="{45C87C7F-4BDB-705B-E846-3B75B6DC4002}"/>
              </a:ext>
            </a:extLst>
          </p:cNvPr>
          <p:cNvSpPr/>
          <p:nvPr/>
        </p:nvSpPr>
        <p:spPr>
          <a:xfrm>
            <a:off x="931362" y="4688826"/>
            <a:ext cx="1805940" cy="683274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r>
              <a:rPr lang="en-US" altLang="ko-KR" sz="1000" dirty="0">
                <a:solidFill>
                  <a:schemeClr val="accent2">
                    <a:lumMod val="5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Before</a:t>
            </a:r>
            <a:endParaRPr lang="en-US" altLang="ko-KR" sz="1000" dirty="0">
              <a:solidFill>
                <a:schemeClr val="accent2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3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8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MasterDataCache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내부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이미지 로드가 직렬 순차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체감 부팅 느림</a:t>
            </a:r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094EC0FE-FE54-2B76-AEF6-9F426B917B9A}"/>
              </a:ext>
            </a:extLst>
          </p:cNvPr>
          <p:cNvSpPr/>
          <p:nvPr/>
        </p:nvSpPr>
        <p:spPr>
          <a:xfrm>
            <a:off x="3296919" y="4676126"/>
            <a:ext cx="1894205" cy="683274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  <p:txBody>
          <a:bodyPr/>
          <a:lstStyle/>
          <a:p>
            <a:r>
              <a:rPr lang="en-US" altLang="ko-KR" sz="1000" dirty="0">
                <a:solidFill>
                  <a:schemeClr val="accent6">
                    <a:lumMod val="5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After</a:t>
            </a:r>
            <a:endParaRPr lang="en-US" altLang="ko-KR" sz="1000" dirty="0">
              <a:solidFill>
                <a:schemeClr val="accent6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3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이미지 로드를 </a:t>
            </a:r>
            <a:r>
              <a:rPr lang="en-US" altLang="ko-KR" sz="8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RunParallel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병렬 전환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부팅 속도 개선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8D01328-4519-5F1B-B4F9-4847C252386F}"/>
              </a:ext>
            </a:extLst>
          </p:cNvPr>
          <p:cNvSpPr/>
          <p:nvPr/>
        </p:nvSpPr>
        <p:spPr>
          <a:xfrm>
            <a:off x="2813502" y="4953000"/>
            <a:ext cx="450398" cy="2794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A51DF26-3F1D-E05E-46BE-B82AC81A8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35" y="5803136"/>
            <a:ext cx="4689529" cy="7938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9C03AC-E020-6279-21DE-429F559743F3}"/>
              </a:ext>
            </a:extLst>
          </p:cNvPr>
          <p:cNvSpPr txBox="1"/>
          <p:nvPr/>
        </p:nvSpPr>
        <p:spPr>
          <a:xfrm>
            <a:off x="919135" y="5556915"/>
            <a:ext cx="13644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 </a:t>
            </a:r>
            <a:r>
              <a:rPr lang="en-US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RunParallel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코드 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" name="Shape 32">
            <a:extLst>
              <a:ext uri="{FF2B5EF4-FFF2-40B4-BE49-F238E27FC236}">
                <a16:creationId xmlns:a16="http://schemas.microsoft.com/office/drawing/2014/main" id="{F440149E-A735-D382-2EAB-11E462969B29}"/>
              </a:ext>
            </a:extLst>
          </p:cNvPr>
          <p:cNvSpPr/>
          <p:nvPr/>
        </p:nvSpPr>
        <p:spPr>
          <a:xfrm>
            <a:off x="5793052" y="1986137"/>
            <a:ext cx="0" cy="438912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EA258E-A553-B7F6-CA7E-83D7DE21CB6E}"/>
              </a:ext>
            </a:extLst>
          </p:cNvPr>
          <p:cNvSpPr txBox="1"/>
          <p:nvPr/>
        </p:nvSpPr>
        <p:spPr>
          <a:xfrm>
            <a:off x="6273973" y="1546922"/>
            <a:ext cx="3441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3) 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부팅 </a:t>
            </a:r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단계 병렬 로드</a:t>
            </a:r>
            <a:endParaRPr lang="ko-KR" alt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397D265C-82C7-5592-154B-485248B8C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412712"/>
              </p:ext>
            </p:extLst>
          </p:nvPr>
        </p:nvGraphicFramePr>
        <p:xfrm>
          <a:off x="6667193" y="1956328"/>
          <a:ext cx="1751954" cy="14190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751954">
                  <a:extLst>
                    <a:ext uri="{9D8B030D-6E8A-4147-A177-3AD203B41FA5}">
                      <a16:colId xmlns:a16="http://schemas.microsoft.com/office/drawing/2014/main" val="9466216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Step 1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로비 진입 전 대기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520825"/>
                  </a:ext>
                </a:extLst>
              </a:tr>
              <a:tr h="255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MasterData</a:t>
                      </a:r>
                      <a:endParaRPr lang="ko-KR" altLang="en-US" sz="1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314920"/>
                  </a:ext>
                </a:extLst>
              </a:tr>
              <a:tr h="255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Item</a:t>
                      </a:r>
                      <a:endParaRPr lang="ko-KR" altLang="en-US" sz="1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017524"/>
                  </a:ext>
                </a:extLst>
              </a:tr>
              <a:tr h="255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Character</a:t>
                      </a:r>
                      <a:endParaRPr lang="ko-KR" altLang="en-US" sz="1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081302"/>
                  </a:ext>
                </a:extLst>
              </a:tr>
              <a:tr h="255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UIImage</a:t>
                      </a:r>
                      <a:endParaRPr lang="ko-KR" altLang="en-US" sz="1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171486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37D8391-DEFC-AC2A-DBF1-125A677AD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085255"/>
              </p:ext>
            </p:extLst>
          </p:nvPr>
        </p:nvGraphicFramePr>
        <p:xfrm>
          <a:off x="8577358" y="1956328"/>
          <a:ext cx="1751952" cy="1170482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751952">
                  <a:extLst>
                    <a:ext uri="{9D8B030D-6E8A-4147-A177-3AD203B41FA5}">
                      <a16:colId xmlns:a16="http://schemas.microsoft.com/office/drawing/2014/main" val="9466216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Step 2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백그라운드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520825"/>
                  </a:ext>
                </a:extLst>
              </a:tr>
              <a:tr h="2359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Skill</a:t>
                      </a:r>
                      <a:endParaRPr lang="ko-KR" altLang="en-US" sz="1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314920"/>
                  </a:ext>
                </a:extLst>
              </a:tr>
              <a:tr h="2359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BattleContents</a:t>
                      </a:r>
                      <a:endParaRPr lang="ko-KR" altLang="en-US" sz="1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017524"/>
                  </a:ext>
                </a:extLst>
              </a:tr>
              <a:tr h="286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Monster</a:t>
                      </a:r>
                      <a:endParaRPr lang="ko-KR" altLang="en-US" sz="1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0813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78436B0-58FC-1B83-758C-AD2365E5857A}"/>
              </a:ext>
            </a:extLst>
          </p:cNvPr>
          <p:cNvSpPr txBox="1"/>
          <p:nvPr/>
        </p:nvSpPr>
        <p:spPr>
          <a:xfrm>
            <a:off x="8997119" y="3151121"/>
            <a:ext cx="9124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로비 사용 중 완료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F5A8E1-876F-FCE9-671E-75E39222FF7E}"/>
              </a:ext>
            </a:extLst>
          </p:cNvPr>
          <p:cNvSpPr txBox="1"/>
          <p:nvPr/>
        </p:nvSpPr>
        <p:spPr>
          <a:xfrm>
            <a:off x="6653955" y="3713826"/>
            <a:ext cx="17219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TryAutoLogin</a:t>
            </a:r>
            <a:r>
              <a:rPr lang="en-US" altLang="ko-KR" sz="1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 →  </a:t>
            </a:r>
            <a:r>
              <a:rPr lang="en-US" altLang="ko-KR" sz="1000" b="1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로비</a:t>
            </a:r>
            <a:r>
              <a:rPr lang="en-US" altLang="ko-KR" sz="1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진입</a:t>
            </a:r>
            <a:endParaRPr lang="en-US" altLang="ko-KR" sz="1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D9DB1E14-6751-0C61-FC1F-DB730E0BC3E6}"/>
              </a:ext>
            </a:extLst>
          </p:cNvPr>
          <p:cNvSpPr/>
          <p:nvPr/>
        </p:nvSpPr>
        <p:spPr>
          <a:xfrm>
            <a:off x="7426067" y="3431597"/>
            <a:ext cx="174883" cy="225455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A5F3A8-E37F-EDA5-5D63-ABC8A97B25A6}"/>
              </a:ext>
            </a:extLst>
          </p:cNvPr>
          <p:cNvSpPr txBox="1"/>
          <p:nvPr/>
        </p:nvSpPr>
        <p:spPr>
          <a:xfrm>
            <a:off x="6273973" y="4189493"/>
            <a:ext cx="3822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4) 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런타임 캐시 갱신 </a:t>
            </a:r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– </a:t>
            </a:r>
            <a:r>
              <a:rPr lang="ko-KR" altLang="en-US" sz="1400" b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재조회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API 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호출 없음</a:t>
            </a:r>
            <a:endParaRPr lang="ko-KR" alt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ED28E7C-70DE-335A-EDC1-95FB54C67C85}"/>
              </a:ext>
            </a:extLst>
          </p:cNvPr>
          <p:cNvSpPr/>
          <p:nvPr/>
        </p:nvSpPr>
        <p:spPr>
          <a:xfrm>
            <a:off x="6643908" y="4580876"/>
            <a:ext cx="4033617" cy="246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FD6686-B46D-F70B-6289-7E63341B89A1}"/>
              </a:ext>
            </a:extLst>
          </p:cNvPr>
          <p:cNvSpPr txBox="1"/>
          <p:nvPr/>
        </p:nvSpPr>
        <p:spPr>
          <a:xfrm>
            <a:off x="6643908" y="4580876"/>
            <a:ext cx="10358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스테이지 클리어</a:t>
            </a:r>
            <a:endParaRPr lang="en-US" altLang="ko-KR" sz="1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045D7D7-8D70-A722-3122-AA0CA46A6E9F}"/>
              </a:ext>
            </a:extLst>
          </p:cNvPr>
          <p:cNvSpPr/>
          <p:nvPr/>
        </p:nvSpPr>
        <p:spPr>
          <a:xfrm>
            <a:off x="6643908" y="5680025"/>
            <a:ext cx="4033617" cy="246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983B6A-8DB0-C83D-E523-0C9AFE7173DE}"/>
              </a:ext>
            </a:extLst>
          </p:cNvPr>
          <p:cNvSpPr txBox="1"/>
          <p:nvPr/>
        </p:nvSpPr>
        <p:spPr>
          <a:xfrm>
            <a:off x="6643908" y="5680025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가챠</a:t>
            </a:r>
            <a:endParaRPr lang="en-US" altLang="ko-KR" sz="1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7" name="Text 68">
            <a:extLst>
              <a:ext uri="{FF2B5EF4-FFF2-40B4-BE49-F238E27FC236}">
                <a16:creationId xmlns:a16="http://schemas.microsoft.com/office/drawing/2014/main" id="{008E292F-F989-E64C-2B00-3B80CE2A02F7}"/>
              </a:ext>
            </a:extLst>
          </p:cNvPr>
          <p:cNvSpPr/>
          <p:nvPr/>
        </p:nvSpPr>
        <p:spPr>
          <a:xfrm>
            <a:off x="6773341" y="487472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EC9B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FinishCombatResponsePb 수신</a:t>
            </a:r>
            <a:endParaRPr lang="en-US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" name="Text 69">
            <a:extLst>
              <a:ext uri="{FF2B5EF4-FFF2-40B4-BE49-F238E27FC236}">
                <a16:creationId xmlns:a16="http://schemas.microsoft.com/office/drawing/2014/main" id="{75AE911C-BDBC-8997-2256-87503E708D64}"/>
              </a:ext>
            </a:extLst>
          </p:cNvPr>
          <p:cNvSpPr/>
          <p:nvPr/>
        </p:nvSpPr>
        <p:spPr>
          <a:xfrm>
            <a:off x="6773341" y="505303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   └  재화(Gem·Gold·Token)  →  GameState.ApplyProfile()</a:t>
            </a:r>
            <a:endParaRPr lang="en-US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9" name="Text 70">
            <a:extLst>
              <a:ext uri="{FF2B5EF4-FFF2-40B4-BE49-F238E27FC236}">
                <a16:creationId xmlns:a16="http://schemas.microsoft.com/office/drawing/2014/main" id="{69AAFCE4-BAC7-BBF4-E248-F3D0652744A9}"/>
              </a:ext>
            </a:extLst>
          </p:cNvPr>
          <p:cNvSpPr/>
          <p:nvPr/>
        </p:nvSpPr>
        <p:spPr>
          <a:xfrm>
            <a:off x="6773341" y="5231338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   └  →  OnCurrencyChanged 이벤트  →  UI 자동 갱신</a:t>
            </a:r>
            <a:endParaRPr lang="en-US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Text 71">
            <a:extLst>
              <a:ext uri="{FF2B5EF4-FFF2-40B4-BE49-F238E27FC236}">
                <a16:creationId xmlns:a16="http://schemas.microsoft.com/office/drawing/2014/main" id="{5B834168-7CC8-33B7-F0FD-984C0A1E9760}"/>
              </a:ext>
            </a:extLst>
          </p:cNvPr>
          <p:cNvSpPr/>
          <p:nvPr/>
        </p:nvSpPr>
        <p:spPr>
          <a:xfrm>
            <a:off x="6773341" y="5409646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   └  별점·진행도  →  StageProgressManager.ApplyClear()</a:t>
            </a:r>
            <a:endParaRPr lang="en-US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" name="Text 74">
            <a:extLst>
              <a:ext uri="{FF2B5EF4-FFF2-40B4-BE49-F238E27FC236}">
                <a16:creationId xmlns:a16="http://schemas.microsoft.com/office/drawing/2014/main" id="{17A1EC4D-FCB1-3887-A6E1-51D8F3AE2282}"/>
              </a:ext>
            </a:extLst>
          </p:cNvPr>
          <p:cNvSpPr/>
          <p:nvPr/>
        </p:nvSpPr>
        <p:spPr>
          <a:xfrm>
            <a:off x="6773341" y="5992998"/>
            <a:ext cx="4160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EC9B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GachaDrawResultPb 수신</a:t>
            </a:r>
            <a:endParaRPr lang="en-US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2" name="Text 75">
            <a:extLst>
              <a:ext uri="{FF2B5EF4-FFF2-40B4-BE49-F238E27FC236}">
                <a16:creationId xmlns:a16="http://schemas.microsoft.com/office/drawing/2014/main" id="{A492E260-5F6A-7FFF-D717-347E9BB4CB2D}"/>
              </a:ext>
            </a:extLst>
          </p:cNvPr>
          <p:cNvSpPr/>
          <p:nvPr/>
        </p:nvSpPr>
        <p:spPr>
          <a:xfrm>
            <a:off x="6773341" y="6162162"/>
            <a:ext cx="4160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   └  재화 차감  →  GameState.ApplyProfile(afterProfile)</a:t>
            </a:r>
            <a:endParaRPr lang="en-US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3" name="Text 76">
            <a:extLst>
              <a:ext uri="{FF2B5EF4-FFF2-40B4-BE49-F238E27FC236}">
                <a16:creationId xmlns:a16="http://schemas.microsoft.com/office/drawing/2014/main" id="{DF827DD3-B8DD-7D3A-F553-2CDCB8864600}"/>
              </a:ext>
            </a:extLst>
          </p:cNvPr>
          <p:cNvSpPr/>
          <p:nvPr/>
        </p:nvSpPr>
        <p:spPr>
          <a:xfrm>
            <a:off x="6773341" y="6331326"/>
            <a:ext cx="4160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   └  신규 캐릭터  →  UserData.AddOrUpdateCharacter()</a:t>
            </a:r>
            <a:endParaRPr lang="en-US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4" name="Text 77">
            <a:extLst>
              <a:ext uri="{FF2B5EF4-FFF2-40B4-BE49-F238E27FC236}">
                <a16:creationId xmlns:a16="http://schemas.microsoft.com/office/drawing/2014/main" id="{CD8CB2D5-FCA2-DD9B-3768-079129FD7017}"/>
              </a:ext>
            </a:extLst>
          </p:cNvPr>
          <p:cNvSpPr/>
          <p:nvPr/>
        </p:nvSpPr>
        <p:spPr>
          <a:xfrm>
            <a:off x="6773341" y="6500490"/>
            <a:ext cx="4160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   └  →  UpdatedAt 타임스탬프로 오래된 데이터 덮어쓰기 방지</a:t>
            </a:r>
            <a:endParaRPr lang="en-US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7961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DB5A8-2253-0AE2-6ED7-2C1A4CEF0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5" descr="/home/claude/admin_user.png">
            <a:extLst>
              <a:ext uri="{FF2B5EF4-FFF2-40B4-BE49-F238E27FC236}">
                <a16:creationId xmlns:a16="http://schemas.microsoft.com/office/drawing/2014/main" id="{6F4E62E6-D6DF-AB06-FDCA-F2B1BDFC64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32960" y="4828744"/>
            <a:ext cx="2669933" cy="826285"/>
          </a:xfrm>
          <a:prstGeom prst="rect">
            <a:avLst/>
          </a:prstGeom>
        </p:spPr>
      </p:pic>
      <p:sp>
        <p:nvSpPr>
          <p:cNvPr id="19" name="제목 1">
            <a:extLst>
              <a:ext uri="{FF2B5EF4-FFF2-40B4-BE49-F238E27FC236}">
                <a16:creationId xmlns:a16="http://schemas.microsoft.com/office/drawing/2014/main" id="{36EDECED-B887-3A09-85D3-CB2406240C20}"/>
              </a:ext>
            </a:extLst>
          </p:cNvPr>
          <p:cNvSpPr txBox="1">
            <a:spLocks/>
          </p:cNvSpPr>
          <p:nvPr/>
        </p:nvSpPr>
        <p:spPr>
          <a:xfrm>
            <a:off x="601382" y="38431"/>
            <a:ext cx="79217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3. </a:t>
            </a:r>
            <a:r>
              <a:rPr lang="ko-KR" altLang="en-US" dirty="0" err="1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운영툴</a:t>
            </a:r>
            <a:endParaRPr lang="ko-KR" altLang="en-US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61F207-547B-EE0E-65C4-75413757BDBE}"/>
              </a:ext>
            </a:extLst>
          </p:cNvPr>
          <p:cNvSpPr txBox="1"/>
          <p:nvPr/>
        </p:nvSpPr>
        <p:spPr>
          <a:xfrm>
            <a:off x="873797" y="1038641"/>
            <a:ext cx="92106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ASP.NET Core 8.0 MVC  —  </a:t>
            </a:r>
            <a:r>
              <a:rPr lang="en-US" altLang="ko-KR" sz="1400" dirty="0" err="1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게임</a:t>
            </a:r>
            <a:r>
              <a:rPr lang="en-US" altLang="ko-KR" sz="14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서버</a:t>
            </a:r>
            <a:r>
              <a:rPr lang="en-US" altLang="ko-KR" sz="14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API를</a:t>
            </a:r>
            <a:r>
              <a:rPr lang="en-US" altLang="ko-KR" sz="14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그대로</a:t>
            </a:r>
            <a:r>
              <a:rPr lang="en-US" altLang="ko-KR" sz="14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호출</a:t>
            </a:r>
            <a:r>
              <a:rPr lang="en-US" altLang="ko-KR" sz="14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, </a:t>
            </a:r>
            <a:r>
              <a:rPr lang="en-US" altLang="ko-KR" sz="1400" dirty="0" err="1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클라이언트와</a:t>
            </a:r>
            <a:r>
              <a:rPr lang="en-US" altLang="ko-KR" sz="14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동일한</a:t>
            </a:r>
            <a:r>
              <a:rPr lang="en-US" altLang="ko-KR" sz="14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서버</a:t>
            </a:r>
            <a:r>
              <a:rPr lang="en-US" altLang="ko-KR" sz="14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로직</a:t>
            </a:r>
            <a:r>
              <a:rPr lang="en-US" altLang="ko-KR" sz="14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사용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FE8FA28-F686-A2BB-AD41-6525F8E86248}"/>
              </a:ext>
            </a:extLst>
          </p:cNvPr>
          <p:cNvSpPr/>
          <p:nvPr/>
        </p:nvSpPr>
        <p:spPr>
          <a:xfrm flipV="1">
            <a:off x="734078" y="1361784"/>
            <a:ext cx="10723843" cy="5450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14C2CA79-67F1-CE52-4EEB-D80DD0095CC1}"/>
              </a:ext>
            </a:extLst>
          </p:cNvPr>
          <p:cNvSpPr/>
          <p:nvPr/>
        </p:nvSpPr>
        <p:spPr>
          <a:xfrm>
            <a:off x="876215" y="1517725"/>
            <a:ext cx="4337995" cy="25821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DB626C6-11FE-FD39-E262-7DA51E59CE71}"/>
              </a:ext>
            </a:extLst>
          </p:cNvPr>
          <p:cNvSpPr/>
          <p:nvPr/>
        </p:nvSpPr>
        <p:spPr>
          <a:xfrm>
            <a:off x="967656" y="1517725"/>
            <a:ext cx="4234710" cy="258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서버 상태 모니터링</a:t>
            </a:r>
            <a:endParaRPr lang="en-US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11" name="Image 0" descr="/home/claude/admin_server.png">
            <a:extLst>
              <a:ext uri="{FF2B5EF4-FFF2-40B4-BE49-F238E27FC236}">
                <a16:creationId xmlns:a16="http://schemas.microsoft.com/office/drawing/2014/main" id="{316F7760-4723-C44A-2352-E1BD26C245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3797" y="1807623"/>
            <a:ext cx="4337997" cy="733328"/>
          </a:xfrm>
          <a:prstGeom prst="rect">
            <a:avLst/>
          </a:prstGeom>
        </p:spPr>
      </p:pic>
      <p:sp>
        <p:nvSpPr>
          <p:cNvPr id="12" name="Shape 5">
            <a:extLst>
              <a:ext uri="{FF2B5EF4-FFF2-40B4-BE49-F238E27FC236}">
                <a16:creationId xmlns:a16="http://schemas.microsoft.com/office/drawing/2014/main" id="{1C276315-FC55-F73F-5E31-E95226893794}"/>
              </a:ext>
            </a:extLst>
          </p:cNvPr>
          <p:cNvSpPr/>
          <p:nvPr/>
        </p:nvSpPr>
        <p:spPr>
          <a:xfrm>
            <a:off x="876215" y="2684184"/>
            <a:ext cx="4337995" cy="25821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39852D7E-EF35-FBFB-B1E2-40843F6B7D13}"/>
              </a:ext>
            </a:extLst>
          </p:cNvPr>
          <p:cNvSpPr/>
          <p:nvPr/>
        </p:nvSpPr>
        <p:spPr>
          <a:xfrm>
            <a:off x="967656" y="2684184"/>
            <a:ext cx="4234710" cy="258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캐릭터 관리  —  스탯·스킬·레벨 성장치 편집</a:t>
            </a:r>
            <a:endParaRPr lang="en-US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14" name="Image 1" descr="/home/claude/admin_char.png">
            <a:extLst>
              <a:ext uri="{FF2B5EF4-FFF2-40B4-BE49-F238E27FC236}">
                <a16:creationId xmlns:a16="http://schemas.microsoft.com/office/drawing/2014/main" id="{78A524EF-24B8-6264-B56F-604194880B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73797" y="2942115"/>
            <a:ext cx="4337996" cy="1342713"/>
          </a:xfrm>
          <a:prstGeom prst="rect">
            <a:avLst/>
          </a:prstGeom>
        </p:spPr>
      </p:pic>
      <p:sp>
        <p:nvSpPr>
          <p:cNvPr id="15" name="Shape 7">
            <a:extLst>
              <a:ext uri="{FF2B5EF4-FFF2-40B4-BE49-F238E27FC236}">
                <a16:creationId xmlns:a16="http://schemas.microsoft.com/office/drawing/2014/main" id="{427340A6-991C-8787-644E-F95FA2B97DED}"/>
              </a:ext>
            </a:extLst>
          </p:cNvPr>
          <p:cNvSpPr/>
          <p:nvPr/>
        </p:nvSpPr>
        <p:spPr>
          <a:xfrm>
            <a:off x="876216" y="4426164"/>
            <a:ext cx="4337995" cy="25821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2F7BE87B-9FE3-D202-C60A-FDE2481C2BDC}"/>
              </a:ext>
            </a:extLst>
          </p:cNvPr>
          <p:cNvSpPr/>
          <p:nvPr/>
        </p:nvSpPr>
        <p:spPr>
          <a:xfrm>
            <a:off x="967657" y="4426164"/>
            <a:ext cx="4234710" cy="258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몬스터 관리  —  초상화 미리보기 + 단계별 스탯</a:t>
            </a:r>
            <a:endParaRPr lang="en-US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072C6012-059D-353A-4319-0733CACE8EFC}"/>
              </a:ext>
            </a:extLst>
          </p:cNvPr>
          <p:cNvSpPr/>
          <p:nvPr/>
        </p:nvSpPr>
        <p:spPr>
          <a:xfrm>
            <a:off x="5883735" y="1546006"/>
            <a:ext cx="4854423" cy="25821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A852AB10-3A01-5AA1-491F-017EAE2B7165}"/>
              </a:ext>
            </a:extLst>
          </p:cNvPr>
          <p:cNvSpPr/>
          <p:nvPr/>
        </p:nvSpPr>
        <p:spPr>
          <a:xfrm>
            <a:off x="5975176" y="1546006"/>
            <a:ext cx="4751138" cy="258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전투 시뮬레이터  —  파티 구성 후 실제 서버 로직으로 즉시 검증</a:t>
            </a:r>
            <a:endParaRPr lang="en-US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20" name="Image 3" descr="/home/claude/admin_combat.png">
            <a:extLst>
              <a:ext uri="{FF2B5EF4-FFF2-40B4-BE49-F238E27FC236}">
                <a16:creationId xmlns:a16="http://schemas.microsoft.com/office/drawing/2014/main" id="{FDFE3100-51E6-F134-6723-22F4053F2A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83736" y="1821954"/>
            <a:ext cx="4854424" cy="1084499"/>
          </a:xfrm>
          <a:prstGeom prst="rect">
            <a:avLst/>
          </a:prstGeom>
        </p:spPr>
      </p:pic>
      <p:sp>
        <p:nvSpPr>
          <p:cNvPr id="21" name="Shape 12">
            <a:extLst>
              <a:ext uri="{FF2B5EF4-FFF2-40B4-BE49-F238E27FC236}">
                <a16:creationId xmlns:a16="http://schemas.microsoft.com/office/drawing/2014/main" id="{63E7F153-9AEC-189B-14C3-FF0C2E2D4F7D}"/>
              </a:ext>
            </a:extLst>
          </p:cNvPr>
          <p:cNvSpPr/>
          <p:nvPr/>
        </p:nvSpPr>
        <p:spPr>
          <a:xfrm>
            <a:off x="5883735" y="2930941"/>
            <a:ext cx="4854423" cy="25821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E18674EF-5274-7FDE-AD9B-B6D10E6497B9}"/>
              </a:ext>
            </a:extLst>
          </p:cNvPr>
          <p:cNvSpPr/>
          <p:nvPr/>
        </p:nvSpPr>
        <p:spPr>
          <a:xfrm>
            <a:off x="5975176" y="2930941"/>
            <a:ext cx="4751138" cy="258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스테이지 관리  —  챕터·웨이브·보상 설정</a:t>
            </a:r>
            <a:endParaRPr lang="en-US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23" name="Image 4" descr="/home/claude/admin_stage.png">
            <a:extLst>
              <a:ext uri="{FF2B5EF4-FFF2-40B4-BE49-F238E27FC236}">
                <a16:creationId xmlns:a16="http://schemas.microsoft.com/office/drawing/2014/main" id="{4127AAD7-8B98-56DF-8D67-25F3822BFD0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859794" y="3241213"/>
            <a:ext cx="4854424" cy="1012199"/>
          </a:xfrm>
          <a:prstGeom prst="rect">
            <a:avLst/>
          </a:prstGeom>
        </p:spPr>
      </p:pic>
      <p:sp>
        <p:nvSpPr>
          <p:cNvPr id="24" name="Shape 14">
            <a:extLst>
              <a:ext uri="{FF2B5EF4-FFF2-40B4-BE49-F238E27FC236}">
                <a16:creationId xmlns:a16="http://schemas.microsoft.com/office/drawing/2014/main" id="{DBA85199-6469-113D-93AD-CF10C31E0859}"/>
              </a:ext>
            </a:extLst>
          </p:cNvPr>
          <p:cNvSpPr/>
          <p:nvPr/>
        </p:nvSpPr>
        <p:spPr>
          <a:xfrm>
            <a:off x="5895579" y="4555164"/>
            <a:ext cx="4854423" cy="25821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4141C40A-3B7E-8BAA-B0B3-2A0C231DA24F}"/>
              </a:ext>
            </a:extLst>
          </p:cNvPr>
          <p:cNvSpPr/>
          <p:nvPr/>
        </p:nvSpPr>
        <p:spPr>
          <a:xfrm>
            <a:off x="5987020" y="4555164"/>
            <a:ext cx="4751138" cy="258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유저 관리  —  계정·인벤토리·캐릭터 조회</a:t>
            </a:r>
            <a:endParaRPr lang="en-US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3848D8D7-07AD-9B5F-65FE-7710FAEBF764}"/>
              </a:ext>
            </a:extLst>
          </p:cNvPr>
          <p:cNvSpPr/>
          <p:nvPr/>
        </p:nvSpPr>
        <p:spPr>
          <a:xfrm>
            <a:off x="8345258" y="4555164"/>
            <a:ext cx="2087402" cy="25821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341726C9-588E-3046-6CC4-B1BB02B8126C}"/>
              </a:ext>
            </a:extLst>
          </p:cNvPr>
          <p:cNvSpPr/>
          <p:nvPr/>
        </p:nvSpPr>
        <p:spPr>
          <a:xfrm>
            <a:off x="8436698" y="4555164"/>
            <a:ext cx="1984116" cy="258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스탯</a:t>
            </a:r>
            <a:r>
              <a:rPr lang="en-US" sz="1000" b="1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 CSV </a:t>
            </a:r>
            <a:r>
              <a:rPr lang="en-US" sz="1000" b="1" dirty="0" err="1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일괄</a:t>
            </a:r>
            <a:r>
              <a:rPr lang="en-US" sz="1000" b="1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업로드</a:t>
            </a:r>
            <a:endParaRPr lang="en-US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29" name="Image 6" descr="/home/claude/admin_csv.png">
            <a:extLst>
              <a:ext uri="{FF2B5EF4-FFF2-40B4-BE49-F238E27FC236}">
                <a16:creationId xmlns:a16="http://schemas.microsoft.com/office/drawing/2014/main" id="{D419289C-B10C-0F0E-76BE-403968AA377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98007" y="4828744"/>
            <a:ext cx="2087402" cy="826285"/>
          </a:xfrm>
          <a:prstGeom prst="rect">
            <a:avLst/>
          </a:prstGeom>
        </p:spPr>
      </p:pic>
      <p:pic>
        <p:nvPicPr>
          <p:cNvPr id="30" name="Image 2" descr="/home/claude/admin_monster.png">
            <a:extLst>
              <a:ext uri="{FF2B5EF4-FFF2-40B4-BE49-F238E27FC236}">
                <a16:creationId xmlns:a16="http://schemas.microsoft.com/office/drawing/2014/main" id="{177A719B-94DB-3FAB-3222-F92FBCA2132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73797" y="4684378"/>
            <a:ext cx="4337996" cy="1342713"/>
          </a:xfrm>
          <a:prstGeom prst="rect">
            <a:avLst/>
          </a:prstGeom>
        </p:spPr>
      </p:pic>
      <p:sp>
        <p:nvSpPr>
          <p:cNvPr id="31" name="Shape 18">
            <a:extLst>
              <a:ext uri="{FF2B5EF4-FFF2-40B4-BE49-F238E27FC236}">
                <a16:creationId xmlns:a16="http://schemas.microsoft.com/office/drawing/2014/main" id="{C943BB17-82F0-3190-8C18-42F8F40A838E}"/>
              </a:ext>
            </a:extLst>
          </p:cNvPr>
          <p:cNvSpPr/>
          <p:nvPr/>
        </p:nvSpPr>
        <p:spPr>
          <a:xfrm>
            <a:off x="873796" y="6285304"/>
            <a:ext cx="9876205" cy="479759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BF790A-36CB-6F94-3407-C91011E0B855}"/>
              </a:ext>
            </a:extLst>
          </p:cNvPr>
          <p:cNvSpPr txBox="1"/>
          <p:nvPr/>
        </p:nvSpPr>
        <p:spPr>
          <a:xfrm>
            <a:off x="1099493" y="6335330"/>
            <a:ext cx="1956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▪  </a:t>
            </a:r>
            <a:r>
              <a:rPr lang="en-US" altLang="ko-KR" sz="1000" dirty="0" err="1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게임</a:t>
            </a: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서버</a:t>
            </a: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 API </a:t>
            </a:r>
            <a:r>
              <a:rPr lang="en-US" altLang="ko-KR" sz="1000" dirty="0" err="1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직접</a:t>
            </a: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호출</a:t>
            </a: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  </a:t>
            </a:r>
          </a:p>
          <a:p>
            <a:pPr marL="0" indent="0">
              <a:buNone/>
            </a:pP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→  </a:t>
            </a:r>
            <a:r>
              <a:rPr lang="en-US" altLang="ko-KR" sz="1000" dirty="0" err="1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운영툴·클라</a:t>
            </a: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동일</a:t>
            </a: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로직</a:t>
            </a:r>
            <a:endParaRPr lang="en-US" altLang="ko-KR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CA6FD9D2-F2DB-A263-FD9A-EC9D7ABC1472}"/>
              </a:ext>
            </a:extLst>
          </p:cNvPr>
          <p:cNvSpPr/>
          <p:nvPr/>
        </p:nvSpPr>
        <p:spPr>
          <a:xfrm>
            <a:off x="3057309" y="6364358"/>
            <a:ext cx="0" cy="32918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altLang="ko-KR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58C452-BB89-5AD6-C3C8-A7833EC5D5CA}"/>
              </a:ext>
            </a:extLst>
          </p:cNvPr>
          <p:cNvSpPr txBox="1"/>
          <p:nvPr/>
        </p:nvSpPr>
        <p:spPr>
          <a:xfrm>
            <a:off x="3236338" y="6411145"/>
            <a:ext cx="2575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▪  HTTP Resilience </a:t>
            </a:r>
            <a:r>
              <a:rPr lang="en-US" altLang="ko-KR" sz="1000" dirty="0" err="1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패턴</a:t>
            </a: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 (</a:t>
            </a:r>
            <a:r>
              <a:rPr lang="en-US" altLang="ko-KR" sz="1000" dirty="0" err="1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재시도·폴백</a:t>
            </a: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)</a:t>
            </a:r>
            <a:endParaRPr lang="en-US" altLang="ko-KR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F7C4568B-CC2C-8498-47B6-D065736CDC75}"/>
              </a:ext>
            </a:extLst>
          </p:cNvPr>
          <p:cNvSpPr/>
          <p:nvPr/>
        </p:nvSpPr>
        <p:spPr>
          <a:xfrm>
            <a:off x="5749715" y="6371617"/>
            <a:ext cx="0" cy="32918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altLang="ko-K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F15BA0-2B4A-F4F0-620A-C5B5270B7FF3}"/>
              </a:ext>
            </a:extLst>
          </p:cNvPr>
          <p:cNvSpPr txBox="1"/>
          <p:nvPr/>
        </p:nvSpPr>
        <p:spPr>
          <a:xfrm>
            <a:off x="5934211" y="6423973"/>
            <a:ext cx="24674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▪  Cookie </a:t>
            </a:r>
            <a:r>
              <a:rPr lang="en-US" altLang="ko-KR" sz="1000" dirty="0" err="1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기반</a:t>
            </a: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관리자</a:t>
            </a: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인증</a:t>
            </a: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 (8h </a:t>
            </a:r>
            <a:r>
              <a:rPr lang="en-US" altLang="ko-KR" sz="1000" dirty="0" err="1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세션</a:t>
            </a: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)</a:t>
            </a:r>
            <a:endParaRPr lang="en-US" altLang="ko-KR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0BBC1157-9F3B-A702-E227-2434D5C01216}"/>
              </a:ext>
            </a:extLst>
          </p:cNvPr>
          <p:cNvSpPr/>
          <p:nvPr/>
        </p:nvSpPr>
        <p:spPr>
          <a:xfrm>
            <a:off x="8282459" y="6378874"/>
            <a:ext cx="0" cy="32918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altLang="ko-KR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C8285D-56F7-E6F0-3EA8-C801EC4BDC33}"/>
              </a:ext>
            </a:extLst>
          </p:cNvPr>
          <p:cNvSpPr txBox="1"/>
          <p:nvPr/>
        </p:nvSpPr>
        <p:spPr>
          <a:xfrm>
            <a:off x="8401640" y="6420355"/>
            <a:ext cx="22552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▪  CloudFront </a:t>
            </a:r>
            <a:r>
              <a:rPr lang="en-US" altLang="ko-KR" sz="1000" dirty="0" err="1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기반</a:t>
            </a: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에셋</a:t>
            </a:r>
            <a:r>
              <a:rPr lang="en-US" altLang="ko-KR" sz="1000" dirty="0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1E3A5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Malgun Gothic" pitchFamily="34" charset="-120"/>
              </a:rPr>
              <a:t>미리보기</a:t>
            </a:r>
            <a:endParaRPr lang="en-US" altLang="ko-KR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9572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1886F-ADA1-A367-9D80-8B2BF66E7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0599EF-3132-BAD2-7452-E00A64114C7D}"/>
              </a:ext>
            </a:extLst>
          </p:cNvPr>
          <p:cNvSpPr txBox="1"/>
          <p:nvPr/>
        </p:nvSpPr>
        <p:spPr>
          <a:xfrm>
            <a:off x="628414" y="1363994"/>
            <a:ext cx="516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[1] Tick </a:t>
            </a:r>
            <a:r>
              <a:rPr lang="ko-KR" altLang="en-US" b="1" dirty="0"/>
              <a:t>기반 전투에서 </a:t>
            </a:r>
            <a:r>
              <a:rPr lang="en-US" altLang="ko-KR" b="1" dirty="0"/>
              <a:t>Snapshot</a:t>
            </a:r>
            <a:r>
              <a:rPr lang="ko-KR" altLang="en-US" b="1" dirty="0"/>
              <a:t>과 </a:t>
            </a:r>
            <a:r>
              <a:rPr lang="en-US" altLang="ko-KR" b="1" dirty="0"/>
              <a:t>Event </a:t>
            </a:r>
            <a:r>
              <a:rPr lang="ko-KR" altLang="en-US" b="1" dirty="0"/>
              <a:t>분리</a:t>
            </a:r>
            <a:endParaRPr lang="ko-KR" alt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A4F03025-6A23-4312-0F78-43D6462110DD}"/>
              </a:ext>
            </a:extLst>
          </p:cNvPr>
          <p:cNvSpPr txBox="1">
            <a:spLocks/>
          </p:cNvSpPr>
          <p:nvPr/>
        </p:nvSpPr>
        <p:spPr>
          <a:xfrm>
            <a:off x="601382" y="38431"/>
            <a:ext cx="79217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4. </a:t>
            </a:r>
            <a:r>
              <a:rPr lang="ko-KR" altLang="en-US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기술적 도전 </a:t>
            </a:r>
            <a:r>
              <a:rPr lang="en-US" altLang="ko-KR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&amp; </a:t>
            </a:r>
            <a:r>
              <a:rPr lang="ko-KR" altLang="en-US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해결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A31F76-BCED-0B56-BAD6-C209010557DD}"/>
              </a:ext>
            </a:extLst>
          </p:cNvPr>
          <p:cNvSpPr txBox="1"/>
          <p:nvPr/>
        </p:nvSpPr>
        <p:spPr>
          <a:xfrm>
            <a:off x="628414" y="2320225"/>
            <a:ext cx="516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[2] </a:t>
            </a:r>
            <a:r>
              <a:rPr lang="ko-KR" altLang="en-US" b="1" dirty="0"/>
              <a:t>부팅 속도 개선</a:t>
            </a:r>
            <a:endParaRPr lang="ko-KR" alt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DE870-7B05-BD29-5CB5-1555F37191B4}"/>
              </a:ext>
            </a:extLst>
          </p:cNvPr>
          <p:cNvSpPr txBox="1"/>
          <p:nvPr/>
        </p:nvSpPr>
        <p:spPr>
          <a:xfrm>
            <a:off x="628414" y="3091790"/>
            <a:ext cx="516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[3] </a:t>
            </a:r>
            <a:r>
              <a:rPr lang="ko-KR" altLang="en-US" b="1" dirty="0"/>
              <a:t>가챠 연출 </a:t>
            </a:r>
            <a:r>
              <a:rPr lang="en-US" altLang="ko-KR" b="1" dirty="0"/>
              <a:t>Skip </a:t>
            </a:r>
            <a:r>
              <a:rPr lang="ko-KR" altLang="en-US" b="1" dirty="0"/>
              <a:t>타이밍 동기화</a:t>
            </a:r>
            <a:endParaRPr lang="ko-KR" alt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8E8DD-6CB5-919D-F83D-B70C1D36B3AC}"/>
              </a:ext>
            </a:extLst>
          </p:cNvPr>
          <p:cNvSpPr txBox="1"/>
          <p:nvPr/>
        </p:nvSpPr>
        <p:spPr>
          <a:xfrm>
            <a:off x="628414" y="3678689"/>
            <a:ext cx="516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[4] </a:t>
            </a:r>
            <a:r>
              <a:rPr lang="ko-KR" altLang="en-US" b="1" dirty="0"/>
              <a:t>전투 결과 화면 </a:t>
            </a:r>
            <a:r>
              <a:rPr lang="en-US" altLang="ko-KR" b="1" dirty="0"/>
              <a:t>– </a:t>
            </a:r>
            <a:r>
              <a:rPr lang="ko-KR" altLang="en-US" b="1" dirty="0" err="1"/>
              <a:t>서버↔클라</a:t>
            </a:r>
            <a:r>
              <a:rPr lang="ko-KR" altLang="en-US" b="1" dirty="0"/>
              <a:t> 보상 연동</a:t>
            </a:r>
            <a:endParaRPr lang="ko-KR" alt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5751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5992C-6E20-EE6D-3CA4-6D45C436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>
            <a:extLst>
              <a:ext uri="{FF2B5EF4-FFF2-40B4-BE49-F238E27FC236}">
                <a16:creationId xmlns:a16="http://schemas.microsoft.com/office/drawing/2014/main" id="{845F4085-6F86-D44C-BECC-EE50B6ED5CB7}"/>
              </a:ext>
            </a:extLst>
          </p:cNvPr>
          <p:cNvSpPr txBox="1">
            <a:spLocks/>
          </p:cNvSpPr>
          <p:nvPr/>
        </p:nvSpPr>
        <p:spPr>
          <a:xfrm>
            <a:off x="601382" y="38431"/>
            <a:ext cx="79217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5. </a:t>
            </a:r>
            <a:r>
              <a:rPr lang="ko-KR" altLang="en-US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결과 </a:t>
            </a:r>
            <a:r>
              <a:rPr lang="en-US" altLang="ko-KR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&amp; </a:t>
            </a:r>
            <a:r>
              <a:rPr lang="ko-KR" altLang="en-US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배운 점</a:t>
            </a:r>
          </a:p>
        </p:txBody>
      </p:sp>
    </p:spTree>
    <p:extLst>
      <p:ext uri="{BB962C8B-B14F-4D97-AF65-F5344CB8AC3E}">
        <p14:creationId xmlns:p14="http://schemas.microsoft.com/office/powerpoint/2010/main" val="2644080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1321</Words>
  <Application>Microsoft Office PowerPoint</Application>
  <PresentationFormat>와이드스크린</PresentationFormat>
  <Paragraphs>228</Paragraphs>
  <Slides>11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나눔스퀘어</vt:lpstr>
      <vt:lpstr>나눔스퀘어 Bold</vt:lpstr>
      <vt:lpstr>나눔스퀘어 ExtraBold</vt:lpstr>
      <vt:lpstr>나눔스퀘어 네오 Bold</vt:lpstr>
      <vt:lpstr>나눔스퀘어 네오 ExtraBold</vt:lpstr>
      <vt:lpstr>맑은 고딕</vt:lpstr>
      <vt:lpstr>맑은 고딕</vt:lpstr>
      <vt:lpstr>Arial</vt:lpstr>
      <vt:lpstr>Office 테마</vt:lpstr>
      <vt:lpstr>PowerPoint 프레젠테이션</vt:lpstr>
      <vt:lpstr>목차</vt:lpstr>
      <vt:lpstr>1. 프로젝트 소개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MyeongSik Lym</dc:creator>
  <cp:lastModifiedBy>MyeongSik Lym</cp:lastModifiedBy>
  <cp:revision>119</cp:revision>
  <dcterms:created xsi:type="dcterms:W3CDTF">2026-03-04T01:33:05Z</dcterms:created>
  <dcterms:modified xsi:type="dcterms:W3CDTF">2026-03-05T05:59:49Z</dcterms:modified>
</cp:coreProperties>
</file>